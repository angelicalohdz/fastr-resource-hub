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Arial"/>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Arial"/>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600" b="0" i="0">
                <a:solidFill>
                  <a:srgbClr val="2C3E50"/>
                </a:solidFill>
                <a:latin typeface="Arial"/>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4352544"/>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b="1">
                          <a:solidFill>
                            <a:srgbClr val="2C3E50"/>
                          </a:solidFill>
                          <a:latin typeface="Arial"/>
                        </a:rPr>
                        <a:t>Opening Session</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08:30-09:00</a:t>
                      </a:r>
                    </a:p>
                  </a:txBody>
                  <a:tcPr/>
                </a:tc>
                <a:tc>
                  <a:txBody>
                    <a:bodyPr wrap="square"/>
                    <a:lstStyle/>
                    <a:p>
                      <a:r>
                        <a:rPr sz="1200">
                          <a:solidFill>
                            <a:srgbClr val="2C3E50"/>
                          </a:solidFill>
                          <a:latin typeface="Arial"/>
                        </a:rPr>
                        <a:t>Participant registration</a:t>
                      </a:r>
                    </a:p>
                  </a:txBody>
                  <a:tcPr/>
                </a:tc>
                <a:tc>
                  <a:txBody>
                    <a:bodyPr wrap="square"/>
                    <a:lstStyle/>
                    <a:p>
                      <a:r>
                        <a:rPr sz="1200">
                          <a:solidFill>
                            <a:srgbClr val="2C3E50"/>
                          </a:solidFill>
                          <a:latin typeface="Arial"/>
                        </a:rPr>
                        <a:t>MoH team</a:t>
                      </a:r>
                    </a:p>
                  </a:txBody>
                  <a:tcPr/>
                </a:tc>
              </a:tr>
              <a:tr h="256032">
                <a:tc>
                  <a:txBody>
                    <a:bodyPr wrap="square"/>
                    <a:lstStyle/>
                    <a:p>
                      <a:r>
                        <a:rPr sz="1200">
                          <a:solidFill>
                            <a:srgbClr val="2C3E50"/>
                          </a:solidFill>
                          <a:latin typeface="Arial"/>
                        </a:rPr>
                        <a:t>09:00-09:10</a:t>
                      </a:r>
                    </a:p>
                  </a:txBody>
                  <a:tcPr/>
                </a:tc>
                <a:tc>
                  <a:txBody>
                    <a:bodyPr wrap="square"/>
                    <a:lstStyle/>
                    <a:p>
                      <a:r>
                        <a:rPr sz="1200">
                          <a:solidFill>
                            <a:srgbClr val="2C3E50"/>
                          </a:solidFill>
                          <a:latin typeface="Arial"/>
                        </a:rPr>
                        <a:t>Welcome and opening remarks</a:t>
                      </a:r>
                    </a:p>
                  </a:txBody>
                  <a:tcPr/>
                </a:tc>
                <a:tc>
                  <a:txBody>
                    <a:bodyPr wrap="square"/>
                    <a:lstStyle/>
                    <a:p>
                      <a:r>
                        <a:rPr sz="1200">
                          <a:solidFill>
                            <a:srgbClr val="2C3E50"/>
                          </a:solidFill>
                          <a:latin typeface="Arial"/>
                        </a:rPr>
                        <a:t>MoH team</a:t>
                      </a:r>
                    </a:p>
                  </a:txBody>
                  <a:tcPr/>
                </a:tc>
              </a:tr>
              <a:tr h="256032">
                <a:tc>
                  <a:txBody>
                    <a:bodyPr wrap="square"/>
                    <a:lstStyle/>
                    <a:p>
                      <a:r>
                        <a:rPr sz="1200">
                          <a:solidFill>
                            <a:srgbClr val="2C3E50"/>
                          </a:solidFill>
                          <a:latin typeface="Arial"/>
                        </a:rPr>
                        <a:t>09:10-09:20</a:t>
                      </a:r>
                    </a:p>
                  </a:txBody>
                  <a:tcPr/>
                </a:tc>
                <a:tc>
                  <a:txBody>
                    <a:bodyPr wrap="square"/>
                    <a:lstStyle/>
                    <a:p>
                      <a:r>
                        <a:rPr sz="1200">
                          <a:solidFill>
                            <a:srgbClr val="2C3E50"/>
                          </a:solidFill>
                          <a:latin typeface="Arial"/>
                        </a:rPr>
                        <a:t>Icebreakers/Introductions</a:t>
                      </a:r>
                    </a:p>
                  </a:txBody>
                  <a:tcPr/>
                </a:tc>
                <a:tc>
                  <a:txBody>
                    <a:bodyPr wrap="square"/>
                    <a:lstStyle/>
                    <a:p>
                      <a:r>
                        <a:rPr sz="1200">
                          <a:solidFill>
                            <a:srgbClr val="2C3E50"/>
                          </a:solidFill>
                          <a:latin typeface="Arial"/>
                        </a:rPr>
                        <a:t>MoH team</a:t>
                      </a:r>
                    </a:p>
                  </a:txBody>
                  <a:tcPr/>
                </a:tc>
              </a:tr>
              <a:tr h="256032">
                <a:tc>
                  <a:txBody>
                    <a:bodyPr wrap="square"/>
                    <a:lstStyle/>
                    <a:p>
                      <a:r>
                        <a:rPr sz="1200">
                          <a:solidFill>
                            <a:srgbClr val="2C3E50"/>
                          </a:solidFill>
                          <a:latin typeface="Arial"/>
                        </a:rPr>
                        <a:t>09:20-09:35</a:t>
                      </a:r>
                    </a:p>
                  </a:txBody>
                  <a:tcPr/>
                </a:tc>
                <a:tc>
                  <a:txBody>
                    <a:bodyPr wrap="square"/>
                    <a:lstStyle/>
                    <a:p>
                      <a:r>
                        <a:rPr sz="1200">
                          <a:solidFill>
                            <a:srgbClr val="2C3E50"/>
                          </a:solidFill>
                          <a:latin typeface="Arial"/>
                        </a:rPr>
                        <a:t>Overview of agenda, workshop objectives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 Overview of the FASTR approach</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09:35-10:30</a:t>
                      </a:r>
                    </a:p>
                  </a:txBody>
                  <a:tcPr/>
                </a:tc>
                <a:tc>
                  <a:txBody>
                    <a:bodyPr wrap="square"/>
                    <a:lstStyle/>
                    <a:p>
                      <a:r>
                        <a:rPr sz="1200">
                          <a:solidFill>
                            <a:srgbClr val="2C3E50"/>
                          </a:solidFill>
                          <a:latin typeface="Arial"/>
                        </a:rPr>
                        <a:t>Overview: FASTR Approaches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2: HMIS data extraction</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10:30-11:30</a:t>
                      </a:r>
                    </a:p>
                  </a:txBody>
                  <a:tcPr/>
                </a:tc>
                <a:tc>
                  <a:txBody>
                    <a:bodyPr wrap="square"/>
                    <a:lstStyle/>
                    <a:p>
                      <a:r>
                        <a:rPr sz="1200">
                          <a:solidFill>
                            <a:srgbClr val="2C3E50"/>
                          </a:solidFill>
                          <a:latin typeface="Arial"/>
                        </a:rPr>
                        <a:t>Data extraction: Rationale and methods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3: Introduction to the FASTR analytics platform</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11:30-12:30</a:t>
                      </a:r>
                    </a:p>
                  </a:txBody>
                  <a:tcPr/>
                </a:tc>
                <a:tc>
                  <a:txBody>
                    <a:bodyPr wrap="square"/>
                    <a:lstStyle/>
                    <a:p>
                      <a:r>
                        <a:rPr sz="1200">
                          <a:solidFill>
                            <a:srgbClr val="2C3E50"/>
                          </a:solidFill>
                          <a:latin typeface="Arial"/>
                        </a:rPr>
                        <a:t>Introduction to the FASTR analytics platform</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a:solidFill>
                            <a:srgbClr val="2C3E50"/>
                          </a:solidFill>
                          <a:latin typeface="Arial"/>
                        </a:rPr>
                        <a:t>14:00-14:30</a:t>
                      </a:r>
                    </a:p>
                  </a:txBody>
                  <a:tcPr/>
                </a:tc>
                <a:tc>
                  <a:txBody>
                    <a:bodyPr wrap="square"/>
                    <a:lstStyle/>
                    <a:p>
                      <a:r>
                        <a:rPr sz="1200">
                          <a:solidFill>
                            <a:srgbClr val="2C3E50"/>
                          </a:solidFill>
                          <a:latin typeface="Arial"/>
                        </a:rPr>
                        <a:t>Getting participants into the platform</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4: Configuring the FASTR analytics platform</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14:30-16:30</a:t>
                      </a:r>
                    </a:p>
                  </a:txBody>
                  <a:tcPr/>
                </a:tc>
                <a:tc>
                  <a:txBody>
                    <a:bodyPr wrap="square"/>
                    <a:lstStyle/>
                    <a:p>
                      <a:r>
                        <a:rPr sz="1200">
                          <a:solidFill>
                            <a:srgbClr val="2C3E50"/>
                          </a:solidFill>
                          <a:latin typeface="Arial"/>
                        </a:rPr>
                        <a:t>Configuring the analysis platform</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16:30-17:00</a:t>
                      </a:r>
                    </a:p>
                  </a:txBody>
                  <a:tcPr/>
                </a:tc>
                <a:tc>
                  <a:txBody>
                    <a:bodyPr wrap="square"/>
                    <a:lstStyle/>
                    <a:p>
                      <a:r>
                        <a:rPr sz="1200">
                          <a:solidFill>
                            <a:srgbClr val="2C3E50"/>
                          </a:solidFill>
                          <a:latin typeface="Arial"/>
                        </a:rPr>
                        <a:t>Key messages and wrap-up</a:t>
                      </a:r>
                    </a:p>
                  </a:txBody>
                  <a:tcPr/>
                </a:tc>
                <a:tc>
                  <a:txBody>
                    <a:bodyPr wrap="square"/>
                    <a:lstStyle/>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3072384"/>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a:solidFill>
                            <a:srgbClr val="2C3E50"/>
                          </a:solidFill>
                          <a:latin typeface="Arial"/>
                        </a:rPr>
                        <a:t>09:00-09:15</a:t>
                      </a:r>
                    </a:p>
                  </a:txBody>
                  <a:tcPr/>
                </a:tc>
                <a:tc>
                  <a:txBody>
                    <a:bodyPr wrap="square"/>
                    <a:lstStyle/>
                    <a:p>
                      <a:r>
                        <a:rPr sz="1200">
                          <a:solidFill>
                            <a:srgbClr val="2C3E50"/>
                          </a:solidFill>
                          <a:latin typeface="Arial"/>
                        </a:rPr>
                        <a:t>Overview of Day 2 agenda</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5: Overview of FASTR methods and analytical outputs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09:15-10:15</a:t>
                      </a:r>
                    </a:p>
                  </a:txBody>
                  <a:tcPr/>
                </a:tc>
                <a:tc>
                  <a:txBody>
                    <a:bodyPr wrap="square"/>
                    <a:lstStyle/>
                    <a:p>
                      <a:r>
                        <a:rPr sz="1200">
                          <a:solidFill>
                            <a:srgbClr val="2C3E50"/>
                          </a:solidFill>
                          <a:latin typeface="Arial"/>
                        </a:rPr>
                        <a:t>Data quality, service utilization, coverage</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6: Creating a project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10:15-11:15</a:t>
                      </a:r>
                    </a:p>
                  </a:txBody>
                  <a:tcPr/>
                </a:tc>
                <a:tc>
                  <a:txBody>
                    <a:bodyPr wrap="square"/>
                    <a:lstStyle/>
                    <a:p>
                      <a:r>
                        <a:rPr sz="1200">
                          <a:solidFill>
                            <a:srgbClr val="2C3E50"/>
                          </a:solidFill>
                          <a:latin typeface="Arial"/>
                        </a:rPr>
                        <a:t>Project creation and settings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7: Creating visualizations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11:15-12:30</a:t>
                      </a:r>
                    </a:p>
                  </a:txBody>
                  <a:tcPr/>
                </a:tc>
                <a:tc>
                  <a:txBody>
                    <a:bodyPr wrap="square"/>
                    <a:lstStyle/>
                    <a:p>
                      <a:r>
                        <a:rPr sz="1200">
                          <a:solidFill>
                            <a:srgbClr val="2C3E50"/>
                          </a:solidFill>
                          <a:latin typeface="Arial"/>
                        </a:rPr>
                        <a:t>Creating and editing visualizations</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b="1">
                          <a:solidFill>
                            <a:srgbClr val="2C3E50"/>
                          </a:solidFill>
                          <a:latin typeface="Arial"/>
                        </a:rPr>
                        <a:t>Session 8: Creating reports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14:30-16:30</a:t>
                      </a:r>
                    </a:p>
                  </a:txBody>
                  <a:tcPr/>
                </a:tc>
                <a:tc>
                  <a:txBody>
                    <a:bodyPr wrap="square"/>
                    <a:lstStyle/>
                    <a:p>
                      <a:r>
                        <a:rPr sz="1200">
                          <a:solidFill>
                            <a:srgbClr val="2C3E50"/>
                          </a:solidFill>
                          <a:latin typeface="Arial"/>
                        </a:rPr>
                        <a:t>Practice creating and editing reports</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16:30-17:00</a:t>
                      </a:r>
                    </a:p>
                  </a:txBody>
                  <a:tcPr/>
                </a:tc>
                <a:tc>
                  <a:txBody>
                    <a:bodyPr wrap="square"/>
                    <a:lstStyle/>
                    <a:p>
                      <a:r>
                        <a:rPr sz="1200">
                          <a:solidFill>
                            <a:srgbClr val="2C3E50"/>
                          </a:solidFill>
                          <a:latin typeface="Arial"/>
                        </a:rPr>
                        <a:t>Key messages and wrap-up</a:t>
                      </a:r>
                    </a:p>
                  </a:txBody>
                  <a:tcPr/>
                </a:tc>
                <a:tc>
                  <a:txBody>
                    <a:bodyPr wrap="square"/>
                    <a:lstStyle/>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3584448"/>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a:solidFill>
                            <a:srgbClr val="2C3E50"/>
                          </a:solidFill>
                          <a:latin typeface="Arial"/>
                        </a:rPr>
                        <a:t>09:00-09:15</a:t>
                      </a:r>
                    </a:p>
                  </a:txBody>
                  <a:tcPr/>
                </a:tc>
                <a:tc>
                  <a:txBody>
                    <a:bodyPr wrap="square"/>
                    <a:lstStyle/>
                    <a:p>
                      <a:r>
                        <a:rPr sz="1200">
                          <a:solidFill>
                            <a:srgbClr val="2C3E50"/>
                          </a:solidFill>
                          <a:latin typeface="Arial"/>
                        </a:rPr>
                        <a:t>Overview of Day 3 agenda</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8: Interpretation of visualizations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09:15-10:15</a:t>
                      </a:r>
                    </a:p>
                  </a:txBody>
                  <a:tcPr/>
                </a:tc>
                <a:tc>
                  <a:txBody>
                    <a:bodyPr wrap="square"/>
                    <a:lstStyle/>
                    <a:p>
                      <a:r>
                        <a:rPr sz="1200">
                          <a:solidFill>
                            <a:srgbClr val="2C3E50"/>
                          </a:solidFill>
                          <a:latin typeface="Arial"/>
                        </a:rPr>
                        <a:t>Approaches to support interpretation</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9: Creating a Q4 2025 report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10:15-12:30</a:t>
                      </a:r>
                    </a:p>
                  </a:txBody>
                  <a:tcPr/>
                </a:tc>
                <a:tc>
                  <a:txBody>
                    <a:bodyPr wrap="square"/>
                    <a:lstStyle/>
                    <a:p>
                      <a:r>
                        <a:rPr sz="1200">
                          <a:solidFill>
                            <a:srgbClr val="2C3E50"/>
                          </a:solidFill>
                          <a:latin typeface="Arial"/>
                        </a:rPr>
                        <a:t>Creating short and long reports with country context</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b="1">
                          <a:solidFill>
                            <a:srgbClr val="2C3E50"/>
                          </a:solidFill>
                          <a:latin typeface="Arial"/>
                        </a:rPr>
                        <a:t>Session 9 (cont'd): Creating a Q4 2025 report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14:00-15:00</a:t>
                      </a:r>
                    </a:p>
                  </a:txBody>
                  <a:tcPr/>
                </a:tc>
                <a:tc>
                  <a:txBody>
                    <a:bodyPr wrap="square"/>
                    <a:lstStyle/>
                    <a:p>
                      <a:r>
                        <a:rPr sz="1200">
                          <a:solidFill>
                            <a:srgbClr val="2C3E50"/>
                          </a:solidFill>
                          <a:latin typeface="Arial"/>
                        </a:rPr>
                        <a:t>Continue report creation with country context</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10: Presenting reports</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14:30-15:30</a:t>
                      </a:r>
                    </a:p>
                  </a:txBody>
                  <a:tcPr/>
                </a:tc>
                <a:tc>
                  <a:txBody>
                    <a:bodyPr wrap="square"/>
                    <a:lstStyle/>
                    <a:p>
                      <a:r>
                        <a:rPr sz="1200">
                          <a:solidFill>
                            <a:srgbClr val="2C3E50"/>
                          </a:solidFill>
                          <a:latin typeface="Arial"/>
                        </a:rPr>
                        <a:t>Present reports, group feedback</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11: Action planning</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15:30-16:30</a:t>
                      </a:r>
                    </a:p>
                  </a:txBody>
                  <a:tcPr/>
                </a:tc>
                <a:tc>
                  <a:txBody>
                    <a:bodyPr wrap="square"/>
                    <a:lstStyle/>
                    <a:p>
                      <a:r>
                        <a:rPr sz="1200">
                          <a:solidFill>
                            <a:srgbClr val="2C3E50"/>
                          </a:solidFill>
                          <a:latin typeface="Arial"/>
                        </a:rPr>
                        <a:t>Activity: Action planning</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16:30-17:00</a:t>
                      </a:r>
                    </a:p>
                  </a:txBody>
                  <a:tcPr/>
                </a:tc>
                <a:tc>
                  <a:txBody>
                    <a:bodyPr wrap="square"/>
                    <a:lstStyle/>
                    <a:p>
                      <a:r>
                        <a:rPr sz="1200">
                          <a:solidFill>
                            <a:srgbClr val="2C3E50"/>
                          </a:solidFill>
                          <a:latin typeface="Arial"/>
                        </a:rPr>
                        <a:t>Key messages and wrap-up</a:t>
                      </a:r>
                    </a:p>
                  </a:txBody>
                  <a:tcPr/>
                </a:tc>
                <a:tc>
                  <a:txBody>
                    <a:bodyPr wrap="square"/>
                    <a:lstStyle/>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Agenda</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1247120" cy="3584448"/>
        </p:xfrm>
        <a:graphic>
          <a:graphicData uri="http://schemas.openxmlformats.org/drawingml/2006/table">
            <a:tbl>
              <a:tblPr firstRow="1" bandRow="1">
                <a:tableStyleId>{5C22544A-7EE6-4342-B048-85BDC9FD1C3A}</a:tableStyleId>
              </a:tblPr>
              <a:tblGrid>
                <a:gridCol w="1828800"/>
                <a:gridCol w="7315200"/>
                <a:gridCol w="2103120"/>
              </a:tblGrid>
              <a:tr h="256032">
                <a:tc>
                  <a:txBody>
                    <a:bodyPr wrap="square"/>
                    <a:lstStyle/>
                    <a:p>
                      <a:pPr>
                        <a:defRPr sz="1200" b="1">
                          <a:solidFill>
                            <a:srgbClr val="21568C"/>
                          </a:solidFill>
                          <a:latin typeface="Arial"/>
                        </a:defRPr>
                      </a:pPr>
                      <a:r>
                        <a:t>Time</a:t>
                      </a:r>
                    </a:p>
                  </a:txBody>
                  <a:tcPr>
                    <a:solidFill>
                      <a:srgbClr val="CAE6E9"/>
                    </a:solidFill>
                  </a:tcPr>
                </a:tc>
                <a:tc>
                  <a:txBody>
                    <a:bodyPr wrap="square"/>
                    <a:lstStyle/>
                    <a:p>
                      <a:pPr>
                        <a:defRPr sz="1200" b="1">
                          <a:solidFill>
                            <a:srgbClr val="21568C"/>
                          </a:solidFill>
                          <a:latin typeface="Arial"/>
                        </a:defRPr>
                      </a:pPr>
                      <a:r>
                        <a:t>Agenda</a:t>
                      </a:r>
                    </a:p>
                  </a:txBody>
                  <a:tcPr>
                    <a:solidFill>
                      <a:srgbClr val="CAE6E9"/>
                    </a:solidFill>
                  </a:tcPr>
                </a:tc>
                <a:tc>
                  <a:txBody>
                    <a:bodyPr wrap="square"/>
                    <a:lstStyle/>
                    <a:p>
                      <a:pPr>
                        <a:defRPr sz="1200" b="1">
                          <a:solidFill>
                            <a:srgbClr val="21568C"/>
                          </a:solidFill>
                          <a:latin typeface="Arial"/>
                        </a:defRPr>
                      </a:pPr>
                      <a:r>
                        <a:t>Facilitator/Presenter</a:t>
                      </a:r>
                    </a:p>
                  </a:txBody>
                  <a:tcPr>
                    <a:solidFill>
                      <a:srgbClr val="CAE6E9"/>
                    </a:solidFill>
                  </a:tcPr>
                </a:tc>
              </a:tr>
              <a:tr h="256032">
                <a:tc>
                  <a:txBody>
                    <a:bodyPr wrap="square"/>
                    <a:lstStyle/>
                    <a:p>
                      <a:r>
                        <a:rPr sz="1200">
                          <a:solidFill>
                            <a:srgbClr val="2C3E50"/>
                          </a:solidFill>
                          <a:latin typeface="Arial"/>
                        </a:rPr>
                        <a:t>09:00-09:15</a:t>
                      </a:r>
                    </a:p>
                  </a:txBody>
                  <a:tcPr/>
                </a:tc>
                <a:tc>
                  <a:txBody>
                    <a:bodyPr wrap="square"/>
                    <a:lstStyle/>
                    <a:p>
                      <a:r>
                        <a:rPr sz="1200">
                          <a:solidFill>
                            <a:srgbClr val="2C3E50"/>
                          </a:solidFill>
                          <a:latin typeface="Arial"/>
                        </a:rPr>
                        <a:t>Overview of Day 4 agenda</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12: Overview of FASTR HFA phone survey</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09:15-10:15</a:t>
                      </a:r>
                    </a:p>
                  </a:txBody>
                  <a:tcPr/>
                </a:tc>
                <a:tc>
                  <a:txBody>
                    <a:bodyPr wrap="square"/>
                    <a:lstStyle/>
                    <a:p>
                      <a:r>
                        <a:rPr sz="1200">
                          <a:solidFill>
                            <a:srgbClr val="2C3E50"/>
                          </a:solidFill>
                          <a:latin typeface="Arial"/>
                        </a:rPr>
                        <a:t>HFA overview and questionnaire adaptation guidelines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13: Questionnaire adaptation to the Zambian context</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10:15-12:30</a:t>
                      </a:r>
                    </a:p>
                  </a:txBody>
                  <a:tcPr/>
                </a:tc>
                <a:tc>
                  <a:txBody>
                    <a:bodyPr wrap="square"/>
                    <a:lstStyle/>
                    <a:p>
                      <a:r>
                        <a:rPr sz="1200">
                          <a:solidFill>
                            <a:srgbClr val="2C3E50"/>
                          </a:solidFill>
                          <a:latin typeface="Arial"/>
                        </a:rPr>
                        <a:t>Review questionnaire + hands-on adaptation</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12:30-14:00</a:t>
                      </a:r>
                    </a:p>
                  </a:txBody>
                  <a:tcPr/>
                </a:tc>
                <a:tc>
                  <a:txBody>
                    <a:bodyPr wrap="square"/>
                    <a:lstStyle/>
                    <a:p>
                      <a:r>
                        <a:rPr sz="1200" i="1">
                          <a:solidFill>
                            <a:srgbClr val="2C3E50"/>
                          </a:solidFill>
                          <a:latin typeface="Arial"/>
                        </a:rPr>
                        <a:t>Lunch Break</a:t>
                      </a:r>
                    </a:p>
                  </a:txBody>
                  <a:tcPr/>
                </a:tc>
                <a:tc>
                  <a:txBody>
                    <a:bodyPr wrap="square"/>
                    <a:lstStyle/>
                    <a:p/>
                  </a:txBody>
                  <a:tcPr/>
                </a:tc>
              </a:tr>
              <a:tr h="256032">
                <a:tc>
                  <a:txBody>
                    <a:bodyPr wrap="square"/>
                    <a:lstStyle/>
                    <a:p>
                      <a:r>
                        <a:rPr sz="1200" b="1">
                          <a:solidFill>
                            <a:srgbClr val="2C3E50"/>
                          </a:solidFill>
                          <a:latin typeface="Arial"/>
                        </a:rPr>
                        <a:t>Session 14: Questionnaire adaptation (cont'd)</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14:00-15:00</a:t>
                      </a:r>
                    </a:p>
                  </a:txBody>
                  <a:tcPr/>
                </a:tc>
                <a:tc>
                  <a:txBody>
                    <a:bodyPr wrap="square"/>
                    <a:lstStyle/>
                    <a:p>
                      <a:r>
                        <a:rPr sz="1200">
                          <a:solidFill>
                            <a:srgbClr val="2C3E50"/>
                          </a:solidFill>
                          <a:latin typeface="Arial"/>
                        </a:rPr>
                        <a:t>Continue questionnaire adaptation (in groups)</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15: Discussion: HFA adapted questionnaire</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14:30-15:30</a:t>
                      </a:r>
                    </a:p>
                  </a:txBody>
                  <a:tcPr/>
                </a:tc>
                <a:tc>
                  <a:txBody>
                    <a:bodyPr wrap="square"/>
                    <a:lstStyle/>
                    <a:p>
                      <a:r>
                        <a:rPr sz="1200">
                          <a:solidFill>
                            <a:srgbClr val="2C3E50"/>
                          </a:solidFill>
                          <a:latin typeface="Arial"/>
                        </a:rPr>
                        <a:t>Discuss adapted questionnaire in plenary</a:t>
                      </a:r>
                    </a:p>
                  </a:txBody>
                  <a:tcPr/>
                </a:tc>
                <a:tc>
                  <a:txBody>
                    <a:bodyPr wrap="square"/>
                    <a:lstStyle/>
                    <a:p>
                      <a:r>
                        <a:rPr sz="1200">
                          <a:solidFill>
                            <a:srgbClr val="2C3E50"/>
                          </a:solidFill>
                          <a:latin typeface="Arial"/>
                        </a:rPr>
                        <a:t>GFF FASTR team</a:t>
                      </a:r>
                    </a:p>
                  </a:txBody>
                  <a:tcPr/>
                </a:tc>
              </a:tr>
              <a:tr h="256032">
                <a:tc>
                  <a:txBody>
                    <a:bodyPr wrap="square"/>
                    <a:lstStyle/>
                    <a:p>
                      <a:r>
                        <a:rPr sz="1200" b="1">
                          <a:solidFill>
                            <a:srgbClr val="2C3E50"/>
                          </a:solidFill>
                          <a:latin typeface="Arial"/>
                        </a:rPr>
                        <a:t>Session 16: Discussion: HFA priorities and data use</a:t>
                      </a:r>
                    </a:p>
                  </a:txBody>
                  <a:tcPr/>
                </a:tc>
                <a:tc>
                  <a:txBody>
                    <a:bodyPr wrap="square"/>
                    <a:lstStyle/>
                    <a:p/>
                  </a:txBody>
                  <a:tcPr/>
                </a:tc>
                <a:tc>
                  <a:txBody>
                    <a:bodyPr wrap="square"/>
                    <a:lstStyle/>
                    <a:p/>
                  </a:txBody>
                  <a:tcPr/>
                </a:tc>
              </a:tr>
              <a:tr h="256032">
                <a:tc>
                  <a:txBody>
                    <a:bodyPr wrap="square"/>
                    <a:lstStyle/>
                    <a:p>
                      <a:r>
                        <a:rPr sz="1200">
                          <a:solidFill>
                            <a:srgbClr val="2C3E50"/>
                          </a:solidFill>
                          <a:latin typeface="Arial"/>
                        </a:rPr>
                        <a:t>15:30-16:30</a:t>
                      </a:r>
                    </a:p>
                  </a:txBody>
                  <a:tcPr/>
                </a:tc>
                <a:tc>
                  <a:txBody>
                    <a:bodyPr wrap="square"/>
                    <a:lstStyle/>
                    <a:p>
                      <a:r>
                        <a:rPr sz="1200">
                          <a:solidFill>
                            <a:srgbClr val="2C3E50"/>
                          </a:solidFill>
                          <a:latin typeface="Arial"/>
                        </a:rPr>
                        <a:t>HFA priorities and data use case in Zambia</a:t>
                      </a:r>
                    </a:p>
                  </a:txBody>
                  <a:tcPr/>
                </a:tc>
                <a:tc>
                  <a:txBody>
                    <a:bodyPr wrap="square"/>
                    <a:lstStyle/>
                    <a:p>
                      <a:r>
                        <a:rPr sz="1200">
                          <a:solidFill>
                            <a:srgbClr val="2C3E50"/>
                          </a:solidFill>
                          <a:latin typeface="Arial"/>
                        </a:rPr>
                        <a:t>GFF FASTR team</a:t>
                      </a:r>
                    </a:p>
                  </a:txBody>
                  <a:tcPr/>
                </a:tc>
              </a:tr>
              <a:tr h="256032">
                <a:tc>
                  <a:txBody>
                    <a:bodyPr wrap="square"/>
                    <a:lstStyle/>
                    <a:p>
                      <a:r>
                        <a:rPr sz="1200">
                          <a:solidFill>
                            <a:srgbClr val="2C3E50"/>
                          </a:solidFill>
                          <a:latin typeface="Arial"/>
                        </a:rPr>
                        <a:t>16:30-17:00</a:t>
                      </a:r>
                    </a:p>
                  </a:txBody>
                  <a:tcPr/>
                </a:tc>
                <a:tc>
                  <a:txBody>
                    <a:bodyPr wrap="square"/>
                    <a:lstStyle/>
                    <a:p>
                      <a:r>
                        <a:rPr sz="1200">
                          <a:solidFill>
                            <a:srgbClr val="2C3E50"/>
                          </a:solidFill>
                          <a:latin typeface="Arial"/>
                        </a:rPr>
                        <a:t>Key messages and wrap-up</a:t>
                      </a:r>
                    </a:p>
                  </a:txBody>
                  <a:tcPr/>
                </a:tc>
                <a:tc>
                  <a:txBody>
                    <a:bodyPr wrap="square"/>
                    <a:lstStyle/>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Workshop Objectives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2103120"/>
          </a:xfrm>
          <a:prstGeom prst="rect">
            <a:avLst/>
          </a:prstGeom>
          <a:noFill/>
        </p:spPr>
        <p:txBody>
          <a:bodyPr wrap="square">
            <a:spAutoFit/>
          </a:bodyPr>
          <a:lstStyle/>
          <a:p>
            <a:r>
              <a:rPr sz="1600">
                <a:solidFill>
                  <a:srgbClr val="2C3E50"/>
                </a:solidFill>
                <a:latin typeface="Arial"/>
              </a:rPr>
              <a:t>• Prepare MoH for participation in the multi-country workshop</a:t>
            </a:r>
          </a:p>
          <a:p>
            <a:r>
              <a:rPr sz="1600">
                <a:solidFill>
                  <a:srgbClr val="2C3E50"/>
                </a:solidFill>
                <a:latin typeface="Arial"/>
              </a:rPr>
              <a:t>• Strengthen capacity for disruption analysis and data extraction</a:t>
            </a:r>
          </a:p>
          <a:p>
            <a:r>
              <a:rPr sz="1600">
                <a:solidFill>
                  <a:srgbClr val="2C3E50"/>
                </a:solidFill>
                <a:latin typeface="Arial"/>
              </a:rPr>
              <a:t>• Configure the FASTR analytics platform for Zambia</a:t>
            </a:r>
          </a:p>
          <a:p>
            <a:r>
              <a:rPr sz="1600">
                <a:solidFill>
                  <a:srgbClr val="2C3E50"/>
                </a:solidFill>
                <a:latin typeface="Arial"/>
              </a:rPr>
              <a:t>• Produce the first quarterly report</a:t>
            </a:r>
          </a:p>
          <a:p>
            <a:r>
              <a:rPr sz="1600">
                <a:solidFill>
                  <a:srgbClr val="2C3E50"/>
                </a:solidFill>
                <a:latin typeface="Arial"/>
              </a:rPr>
              <a:t>• Adapt the phone survey questionnaire to the Zambian context</a:t>
            </a:r>
          </a:p>
          <a:p>
            <a:r>
              <a:rPr sz="1600">
                <a:solidFill>
                  <a:srgbClr val="2C3E50"/>
                </a:solidFill>
                <a:latin typeface="Arial"/>
              </a:rPr>
              <a:t>• 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Scope of Work</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2926079"/>
          </a:xfrm>
          <a:prstGeom prst="rect">
            <a:avLst/>
          </a:prstGeom>
          <a:noFill/>
        </p:spPr>
        <p:txBody>
          <a:bodyPr wrap="square">
            <a:spAutoFit/>
          </a:bodyPr>
          <a:lstStyle/>
          <a:p>
            <a:pPr>
              <a:defRPr sz="2200" b="1" i="0">
                <a:solidFill>
                  <a:srgbClr val="7A1F6E"/>
                </a:solidFill>
                <a:latin typeface="Arial"/>
              </a:defRPr>
            </a:pPr>
            <a:r>
              <a:t>Disruption Analysis Activities</a:t>
            </a:r>
          </a:p>
          <a:p>
            <a:r>
              <a:rPr sz="1600">
                <a:solidFill>
                  <a:srgbClr val="2C3E50"/>
                </a:solidFill>
                <a:latin typeface="Arial"/>
              </a:rPr>
              <a:t>• Data extraction and configuration of analytics platform</a:t>
            </a:r>
          </a:p>
          <a:p>
            <a:r>
              <a:rPr sz="1600">
                <a:solidFill>
                  <a:srgbClr val="2C3E50"/>
                </a:solidFill>
                <a:latin typeface="Arial"/>
              </a:rPr>
              <a:t>• Produce first quarterly report</a:t>
            </a:r>
          </a:p>
          <a:p>
            <a:r>
              <a:rPr sz="1600">
                <a:solidFill>
                  <a:srgbClr val="2C3E50"/>
                </a:solidFill>
                <a:latin typeface="Arial"/>
              </a:rPr>
              <a:t>• Review results and contextualize findings (with relevant program teams)</a:t>
            </a:r>
          </a:p>
          <a:p>
            <a:pPr>
              <a:defRPr sz="2200" b="1" i="0">
                <a:solidFill>
                  <a:srgbClr val="7A1F6E"/>
                </a:solidFill>
                <a:latin typeface="Arial"/>
              </a:defRPr>
            </a:pPr>
            <a:r>
              <a:t>Phone Survey Activities</a:t>
            </a:r>
          </a:p>
          <a:p>
            <a:r>
              <a:rPr sz="1600">
                <a:solidFill>
                  <a:srgbClr val="2C3E50"/>
                </a:solidFill>
                <a:latin typeface="Arial"/>
              </a:rPr>
              <a:t>• Adaptation of questionnaire (with program input)</a:t>
            </a:r>
          </a:p>
          <a:p>
            <a:pPr>
              <a:defRPr sz="2200" b="1" i="0">
                <a:solidFill>
                  <a:srgbClr val="7A1F6E"/>
                </a:solidFill>
                <a:latin typeface="Arial"/>
              </a:defRPr>
            </a:pPr>
            <a:r>
              <a:t>Capacity Building</a:t>
            </a:r>
          </a:p>
          <a:p>
            <a:r>
              <a:rPr sz="1600">
                <a:solidFill>
                  <a:srgbClr val="2C3E50"/>
                </a:solidFill>
                <a:latin typeface="Arial"/>
              </a:rPr>
              <a:t>• Training on data downloader for all with DHIS2 access</a:t>
            </a:r>
          </a:p>
          <a:p>
            <a:r>
              <a:rPr sz="1600">
                <a:solidFill>
                  <a:srgbClr val="2C3E50"/>
                </a:solidFill>
                <a:latin typeface="Arial"/>
              </a:rPr>
              <a:t>• 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Expected Outputs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554480"/>
          </a:xfrm>
          <a:prstGeom prst="rect">
            <a:avLst/>
          </a:prstGeom>
          <a:noFill/>
        </p:spPr>
        <p:txBody>
          <a:bodyPr wrap="square">
            <a:spAutoFit/>
          </a:bodyPr>
          <a:lstStyle/>
          <a:p>
            <a:r>
              <a:rPr sz="1600">
                <a:solidFill>
                  <a:srgbClr val="2C3E50"/>
                </a:solidFill>
                <a:latin typeface="Arial"/>
              </a:rPr>
              <a:t>• Adapted phone survey questionnaire</a:t>
            </a:r>
          </a:p>
          <a:p>
            <a:r>
              <a:rPr sz="1600">
                <a:solidFill>
                  <a:srgbClr val="2C3E50"/>
                </a:solidFill>
                <a:latin typeface="Arial"/>
              </a:rPr>
              <a:t>• First quarterly report draft</a:t>
            </a:r>
          </a:p>
          <a:p>
            <a:r>
              <a:rPr sz="1600">
                <a:solidFill>
                  <a:srgbClr val="2C3E50"/>
                </a:solidFill>
                <a:latin typeface="Arial"/>
              </a:rPr>
              <a:t>• Trained MoH team on data downloader tools</a:t>
            </a:r>
          </a:p>
          <a:p>
            <a:r>
              <a:rPr sz="1600">
                <a:solidFill>
                  <a:srgbClr val="2C3E50"/>
                </a:solidFill>
                <a:latin typeface="Arial"/>
              </a:rPr>
              <a:t>• 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1: Overview of the FASTR approach</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Introduction to FASTR</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What FASTR does with routine HMIS data</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Why rapid-cycle analytics?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5303520" cy="1142999"/>
          </a:xfrm>
          <a:prstGeom prst="rect">
            <a:avLst/>
          </a:prstGeom>
          <a:noFill/>
        </p:spPr>
        <p:txBody>
          <a:bodyPr wrap="square">
            <a:spAutoFit/>
          </a:bodyPr>
          <a:lstStyle/>
          <a:p>
            <a:pPr/>
            <a:r>
              <a:rPr sz="1600">
                <a:solidFill>
                  <a:srgbClr val="2C3E50"/>
                </a:solidFill>
                <a:latin typeface="Arial"/>
              </a:rPr>
              <a:t>• Timely insights aligned with country decision cycles</a:t>
            </a:r>
          </a:p>
          <a:p>
            <a:pPr/>
            <a:r>
              <a:rPr sz="1600">
                <a:solidFill>
                  <a:srgbClr val="2C3E50"/>
                </a:solidFill>
                <a:latin typeface="Arial"/>
              </a:rPr>
              <a:t>• Continuous learning rather than one-off assessments</a:t>
            </a:r>
          </a:p>
          <a:p>
            <a:pPr/>
            <a:r>
              <a:rPr sz="1600">
                <a:solidFill>
                  <a:srgbClr val="2C3E50"/>
                </a:solidFill>
                <a:latin typeface="Arial"/>
              </a:rPr>
              <a:t>• Direct feedback loops between data, analysis, and 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Focus of the analysis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3749039"/>
          </a:xfrm>
          <a:prstGeom prst="rect">
            <a:avLst/>
          </a:prstGeom>
          <a:noFill/>
        </p:spPr>
        <p:txBody>
          <a:bodyPr wrap="square">
            <a:spAutoFit/>
          </a:bodyPr>
          <a:lstStyle/>
          <a:p>
            <a:pPr>
              <a:defRPr sz="2200" b="1" i="0">
                <a:solidFill>
                  <a:srgbClr val="7A1F6E"/>
                </a:solidFill>
                <a:latin typeface="Arial"/>
              </a:defRPr>
            </a:pPr>
            <a:r>
              <a:t>Core indicators</a:t>
            </a:r>
          </a:p>
          <a:p>
            <a:r>
              <a:rPr sz="1600">
                <a:solidFill>
                  <a:srgbClr val="333333"/>
                </a:solidFill>
                <a:latin typeface="Arial"/>
              </a:rPr>
              <a:t>FASTR prioritizes a core set of RMNCAH-N indicators that:</a:t>
            </a:r>
          </a:p>
          <a:p>
            <a:r>
              <a:rPr sz="1600">
                <a:solidFill>
                  <a:srgbClr val="2C3E50"/>
                </a:solidFill>
                <a:latin typeface="Arial"/>
              </a:rPr>
              <a:t>• Represent key service delivery contacts across the continuum of care</a:t>
            </a:r>
          </a:p>
          <a:p>
            <a:r>
              <a:rPr sz="1600">
                <a:solidFill>
                  <a:srgbClr val="2C3E50"/>
                </a:solidFill>
                <a:latin typeface="Arial"/>
              </a:rPr>
              <a:t>• Have relatively high reporting completeness and volumes</a:t>
            </a:r>
          </a:p>
          <a:p>
            <a:r>
              <a:rPr sz="1600">
                <a:solidFill>
                  <a:srgbClr val="2C3E50"/>
                </a:solidFill>
                <a:latin typeface="Arial"/>
              </a:rPr>
              <a:t>• Serve as proxies for broader service delivery performance</a:t>
            </a:r>
          </a:p>
          <a:p>
            <a:r>
              <a:rPr sz="1600">
                <a:solidFill>
                  <a:srgbClr val="333333"/>
                </a:solidFill>
                <a:latin typeface="Arial"/>
              </a:rPr>
              <a:t>Outpatient consultations are included as a proxy for overall health service use. The indicator set can be expanded to reflect country-specific priorities.</a:t>
            </a:r>
          </a:p>
          <a:p>
            <a:pPr>
              <a:defRPr sz="2200" b="1" i="0">
                <a:solidFill>
                  <a:srgbClr val="7A1F6E"/>
                </a:solidFill>
                <a:latin typeface="Arial"/>
              </a:defRPr>
            </a:pPr>
            <a:r>
              <a:t>Core data quality metrics</a:t>
            </a:r>
          </a:p>
          <a:p>
            <a:r>
              <a:rPr sz="1600">
                <a:solidFill>
                  <a:srgbClr val="333333"/>
                </a:solidFill>
                <a:latin typeface="Arial"/>
              </a:rPr>
              <a:t>Analysis is anchored in a standardized set of data quality metrics, including:</a:t>
            </a:r>
          </a:p>
          <a:p>
            <a:r>
              <a:rPr sz="1600">
                <a:solidFill>
                  <a:srgbClr val="2C3E50"/>
                </a:solidFill>
                <a:latin typeface="Arial"/>
              </a:rPr>
              <a:t>• Reporting completeness</a:t>
            </a:r>
          </a:p>
          <a:p>
            <a:r>
              <a:rPr sz="1600">
                <a:solidFill>
                  <a:srgbClr val="2C3E50"/>
                </a:solidFill>
                <a:latin typeface="Arial"/>
              </a:rPr>
              <a:t>• Extreme value (outlier) detection</a:t>
            </a:r>
          </a:p>
          <a:p>
            <a:r>
              <a:rPr sz="1600">
                <a:solidFill>
                  <a:srgbClr val="2C3E50"/>
                </a:solidFill>
                <a:latin typeface="Arial"/>
              </a:rPr>
              <a:t>• Consistency across related indicators</a:t>
            </a:r>
          </a:p>
          <a:p>
            <a:r>
              <a:rPr sz="1600">
                <a:solidFill>
                  <a:srgbClr val="333333"/>
                </a:solidFill>
                <a:latin typeface="Arial"/>
              </a:rPr>
              <a:t>These metrics are summarized into an overall data quality score to support interpretation and comparison across areas.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FASTR approach to routine data analysis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651760"/>
          </a:xfrm>
          <a:prstGeom prst="rect">
            <a:avLst/>
          </a:prstGeom>
          <a:noFill/>
        </p:spPr>
        <p:txBody>
          <a:bodyPr wrap="square">
            <a:spAutoFit/>
          </a:bodyPr>
          <a:lstStyle/>
          <a:p>
            <a:r>
              <a:rPr sz="1600">
                <a:solidFill>
                  <a:srgbClr val="333333"/>
                </a:solidFill>
                <a:latin typeface="Arial"/>
              </a:rPr>
              <a:t>The FASTR approach follows a three-step workflow:</a:t>
            </a:r>
          </a:p>
          <a:p>
            <a:pPr>
              <a:defRPr sz="2200" b="1" i="0">
                <a:solidFill>
                  <a:srgbClr val="7A1F6E"/>
                </a:solidFill>
                <a:latin typeface="Arial"/>
              </a:defRPr>
            </a:pPr>
            <a:r>
              <a:t>1. Assess data quality</a:t>
            </a:r>
          </a:p>
          <a:p>
            <a:r>
              <a:rPr sz="1600">
                <a:solidFill>
                  <a:srgbClr val="333333"/>
                </a:solidFill>
                <a:latin typeface="Arial"/>
              </a:rPr>
              <a:t>Identify issues related to completeness, outliers, and internal consistency at national and subnational levels.</a:t>
            </a:r>
          </a:p>
          <a:p>
            <a:pPr>
              <a:defRPr sz="2200" b="1" i="0">
                <a:solidFill>
                  <a:srgbClr val="7A1F6E"/>
                </a:solidFill>
                <a:latin typeface="Arial"/>
              </a:defRPr>
            </a:pPr>
            <a:r>
              <a:t>2. Adjust for data quality limitations</a:t>
            </a:r>
          </a:p>
          <a:p>
            <a:r>
              <a:rPr sz="1600">
                <a:solidFill>
                  <a:srgbClr val="333333"/>
                </a:solidFill>
                <a:latin typeface="Arial"/>
              </a:rPr>
              <a:t>Apply transparent, indicator-specific corrections to improve the reliability of trend analysis.</a:t>
            </a:r>
          </a:p>
          <a:p>
            <a:pPr>
              <a:defRPr sz="2200" b="1" i="0">
                <a:solidFill>
                  <a:srgbClr val="7A1F6E"/>
                </a:solidFill>
                <a:latin typeface="Arial"/>
              </a:defRPr>
            </a:pPr>
            <a:r>
              <a:t>3. Analyze service delivery</a:t>
            </a:r>
          </a:p>
          <a:p>
            <a:r>
              <a:rPr sz="1600">
                <a:solidFill>
                  <a:srgbClr val="333333"/>
                </a:solidFill>
                <a:latin typeface="Arial"/>
              </a:rPr>
              <a:t>Quantify changes in priority service volumes and compare coverage trends against country targets.</a:t>
            </a:r>
          </a:p>
          <a:p>
            <a:r>
              <a:rPr sz="1600">
                <a:solidFill>
                  <a:srgbClr val="333333"/>
                </a:solidFill>
                <a:latin typeface="Arial"/>
              </a:rPr>
              <a:t>This enables continuous, subnational monitoring while data quality is systematically improved.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2: HMIS data extraction</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Why extract data from DHIS2?</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pPr>
              <a:defRPr sz="2200" b="1" i="0">
                <a:solidFill>
                  <a:srgbClr val="7A1F6E"/>
                </a:solidFill>
                <a:latin typeface="Arial"/>
              </a:defRPr>
            </a:pPr>
            <a:r>
              <a:t>Data quality adjustment</a:t>
            </a:r>
          </a:p>
          <a:p>
            <a:r>
              <a:rPr sz="1600">
                <a:solidFill>
                  <a:srgbClr val="333333"/>
                </a:solidFill>
                <a:latin typeface="Arial"/>
              </a:rPr>
              <a:t>The FASTR approach focuses on data quality adjustments to expand the analyses countries can do with DHIS2 data and to generate more robust estimates.</a:t>
            </a:r>
          </a:p>
          <a:p>
            <a:r>
              <a:rPr sz="1600">
                <a:solidFill>
                  <a:srgbClr val="333333"/>
                </a:solidFill>
                <a:latin typeface="Arial"/>
              </a:rPr>
              <a:t>The FASTR methodology includes specific approaches to:</a:t>
            </a:r>
          </a:p>
          <a:p>
            <a:r>
              <a:rPr sz="1600">
                <a:solidFill>
                  <a:srgbClr val="2C3E50"/>
                </a:solidFill>
                <a:latin typeface="Arial"/>
              </a:rPr>
              <a:t>• Identify and adjust for outliers</a:t>
            </a:r>
          </a:p>
          <a:p>
            <a:r>
              <a:rPr sz="1600">
                <a:solidFill>
                  <a:srgbClr val="2C3E50"/>
                </a:solidFill>
                <a:latin typeface="Arial"/>
              </a:rPr>
              <a:t>• Adjust for incomplete reporting</a:t>
            </a:r>
          </a:p>
          <a:p>
            <a:r>
              <a:rPr sz="1600">
                <a:solidFill>
                  <a:srgbClr val="2C3E50"/>
                </a:solidFill>
                <a:latin typeface="Arial"/>
              </a:rPr>
              <a:t>• Apply consistent data quality metrics</a:t>
            </a:r>
          </a:p>
          <a:p>
            <a:r>
              <a:rPr sz="1600">
                <a:solidFill>
                  <a:srgbClr val="333333"/>
                </a:solidFill>
                <a:latin typeface="Arial"/>
              </a:rPr>
              <a:t>These adjustments require processing that cannot be done within DHIS2's native analytics.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Why extract data from DHIS2?</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pPr>
              <a:defRPr sz="2200" b="1" i="0">
                <a:solidFill>
                  <a:srgbClr val="7A1F6E"/>
                </a:solidFill>
                <a:latin typeface="Arial"/>
              </a:defRPr>
            </a:pPr>
            <a:r>
              <a:t>Analysis complexity</a:t>
            </a:r>
          </a:p>
          <a:p>
            <a:r>
              <a:rPr sz="1600">
                <a:solidFill>
                  <a:srgbClr val="333333"/>
                </a:solidFill>
                <a:latin typeface="Arial"/>
              </a:rPr>
              <a:t>The FASTR approach uses more advanced statistical methods, such as regression analysis, which are not available in DHIS2. While DHIS2 can plot trends over time using raw data, FASTR can go further by:</a:t>
            </a:r>
          </a:p>
          <a:p>
            <a:r>
              <a:rPr sz="1600">
                <a:solidFill>
                  <a:srgbClr val="2C3E50"/>
                </a:solidFill>
                <a:latin typeface="Arial"/>
              </a:rPr>
              <a:t>• Identifying significant increases or decreases in service volume</a:t>
            </a:r>
          </a:p>
          <a:p>
            <a:r>
              <a:rPr sz="1600">
                <a:solidFill>
                  <a:srgbClr val="2C3E50"/>
                </a:solidFill>
                <a:latin typeface="Arial"/>
              </a:rPr>
              <a:t>• Adjusting for data quality issues</a:t>
            </a:r>
          </a:p>
          <a:p>
            <a:r>
              <a:rPr sz="1600">
                <a:solidFill>
                  <a:srgbClr val="2C3E50"/>
                </a:solidFill>
                <a:latin typeface="Arial"/>
              </a:rPr>
              <a:t>• Accounting for expected seasonal variations</a:t>
            </a:r>
          </a:p>
          <a:p>
            <a:r>
              <a:rPr sz="1600">
                <a:solidFill>
                  <a:srgbClr val="2C3E50"/>
                </a:solidFill>
                <a:latin typeface="Arial"/>
              </a:rPr>
              <a:t>• Comparing key periods, such as before and after a reform</a:t>
            </a:r>
          </a:p>
          <a:p>
            <a:r>
              <a:rPr sz="1600">
                <a:solidFill>
                  <a:srgbClr val="333333"/>
                </a:solidFill>
                <a:latin typeface="Arial"/>
              </a:rPr>
              <a:t>The choice between DHIS2 and the FASTR approach should be guided by the specific purpose of your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Data format and granularity</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a:solidFill>
                  <a:srgbClr val="333333"/>
                </a:solidFill>
                <a:latin typeface="Arial"/>
              </a:rPr>
              <a:t>Data should be downloaded for each </a:t>
            </a:r>
            <a:r>
              <a:rPr sz="1600" b="1">
                <a:solidFill>
                  <a:srgbClr val="333333"/>
                </a:solidFill>
                <a:latin typeface="Arial"/>
              </a:rPr>
              <a:t>indicator of interest</a:t>
            </a:r>
            <a:r>
              <a:rPr sz="1600">
                <a:solidFill>
                  <a:srgbClr val="333333"/>
                </a:solidFill>
                <a:latin typeface="Arial"/>
              </a:rPr>
              <a:t>, at </a:t>
            </a:r>
            <a:r>
              <a:rPr sz="1600" b="1">
                <a:solidFill>
                  <a:srgbClr val="333333"/>
                </a:solidFill>
                <a:latin typeface="Arial"/>
              </a:rPr>
              <a:t>facility level</a:t>
            </a:r>
            <a:r>
              <a:rPr sz="1600">
                <a:solidFill>
                  <a:srgbClr val="333333"/>
                </a:solidFill>
                <a:latin typeface="Arial"/>
              </a:rPr>
              <a:t>, and </a:t>
            </a:r>
            <a:r>
              <a:rPr sz="1600" b="1">
                <a:solidFill>
                  <a:srgbClr val="333333"/>
                </a:solidFill>
                <a:latin typeface="Arial"/>
              </a:rPr>
              <a:t>monthly</a:t>
            </a:r>
            <a:r>
              <a:rPr sz="1600">
                <a:solidFill>
                  <a:srgbClr val="333333"/>
                </a:solidFill>
                <a:latin typeface="Arial"/>
              </a:rPr>
              <a:t> for the </a:t>
            </a:r>
            <a:r>
              <a:rPr sz="1600" b="1">
                <a:solidFill>
                  <a:srgbClr val="333333"/>
                </a:solidFill>
                <a:latin typeface="Arial"/>
              </a:rPr>
              <a:t>period of interest</a:t>
            </a:r>
            <a:r>
              <a:rPr sz="1600">
                <a:solidFill>
                  <a:srgbClr val="333333"/>
                </a:solidFill>
                <a:latin typeface="Arial"/>
              </a:rPr>
              <a:t>.</a:t>
            </a:r>
          </a:p>
          <a:p>
            <a:r>
              <a:rPr sz="1600">
                <a:solidFill>
                  <a:srgbClr val="2C3E50"/>
                </a:solidFill>
                <a:latin typeface="Arial"/>
              </a:rPr>
              <a:t>• Data should be saved in </a:t>
            </a:r>
            <a:r>
              <a:rPr sz="1600" b="1">
                <a:solidFill>
                  <a:srgbClr val="2C3E50"/>
                </a:solidFill>
                <a:latin typeface="Arial"/>
              </a:rPr>
              <a:t>long format</a:t>
            </a:r>
            <a:r>
              <a:rPr sz="1600">
                <a:solidFill>
                  <a:srgbClr val="2C3E50"/>
                </a:solidFill>
                <a:latin typeface="Arial"/>
              </a:rPr>
              <a:t> meaning each row represents a single observation or measurement</a:t>
            </a:r>
          </a:p>
          <a:p>
            <a:r>
              <a:rPr sz="1600">
                <a:solidFill>
                  <a:srgbClr val="2C3E50"/>
                </a:solidFill>
                <a:latin typeface="Arial"/>
              </a:rPr>
              <a:t>• Data should be saved in </a:t>
            </a:r>
            <a:r>
              <a:rPr sz="1600" b="1">
                <a:solidFill>
                  <a:srgbClr val="2C3E50"/>
                </a:solidFill>
                <a:latin typeface="Arial"/>
              </a:rPr>
              <a:t>.csv format</a:t>
            </a:r>
            <a:r>
              <a:rPr sz="1600">
                <a:solidFill>
                  <a:srgbClr val="2C3E50"/>
                </a:solidFill>
                <a:latin typeface="Arial"/>
              </a:rPr>
              <a:t> and can be saved in either a single .csv file or multiple .csv files</a:t>
            </a:r>
          </a:p>
          <a:p>
            <a:pPr>
              <a:defRPr sz="2200" b="1" i="0">
                <a:solidFill>
                  <a:srgbClr val="7A1F6E"/>
                </a:solidFill>
                <a:latin typeface="Arial"/>
              </a:defRPr>
            </a:pPr>
            <a:r>
              <a:t>Why monthly facility level data?</a:t>
            </a:r>
          </a:p>
          <a:p>
            <a:r>
              <a:rPr sz="1600">
                <a:solidFill>
                  <a:srgbClr val="333333"/>
                </a:solidFill>
                <a:latin typeface="Arial"/>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Key variables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1600200"/>
        </p:xfrm>
        <a:graphic>
          <a:graphicData uri="http://schemas.openxmlformats.org/drawingml/2006/table">
            <a:tbl>
              <a:tblPr firstRow="1" bandRow="1">
                <a:tableStyleId>{5C22544A-7EE6-4342-B048-85BDC9FD1C3A}</a:tableStyleId>
              </a:tblPr>
              <a:tblGrid>
                <a:gridCol w="3578629"/>
                <a:gridCol w="7668490"/>
              </a:tblGrid>
              <a:tr h="320040">
                <a:tc>
                  <a:txBody>
                    <a:bodyPr wrap="square"/>
                    <a:lstStyle/>
                    <a:p>
                      <a:pPr>
                        <a:defRPr sz="1400" b="1">
                          <a:solidFill>
                            <a:srgbClr val="21568C"/>
                          </a:solidFill>
                          <a:latin typeface="Arial"/>
                        </a:defRPr>
                      </a:pPr>
                      <a:r>
                        <a:t>Element</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a:solidFill>
                            <a:srgbClr val="2C3E50"/>
                          </a:solidFill>
                          <a:latin typeface="Arial"/>
                        </a:rPr>
                        <a:t>Org units</a:t>
                      </a:r>
                    </a:p>
                  </a:txBody>
                  <a:tcPr/>
                </a:tc>
                <a:tc>
                  <a:txBody>
                    <a:bodyPr wrap="square"/>
                    <a:lstStyle/>
                    <a:p>
                      <a:r>
                        <a:rPr sz="1400">
                          <a:solidFill>
                            <a:srgbClr val="2C3E50"/>
                          </a:solidFill>
                          <a:latin typeface="Arial"/>
                        </a:rPr>
                        <a:t>Organizational unit identifier</a:t>
                      </a:r>
                    </a:p>
                  </a:txBody>
                  <a:tcPr/>
                </a:tc>
              </a:tr>
              <a:tr h="320040">
                <a:tc>
                  <a:txBody>
                    <a:bodyPr wrap="square"/>
                    <a:lstStyle/>
                    <a:p>
                      <a:r>
                        <a:rPr sz="1400">
                          <a:solidFill>
                            <a:srgbClr val="2C3E50"/>
                          </a:solidFill>
                          <a:latin typeface="Arial"/>
                        </a:rPr>
                        <a:t>Period</a:t>
                      </a:r>
                    </a:p>
                  </a:txBody>
                  <a:tcPr/>
                </a:tc>
                <a:tc>
                  <a:txBody>
                    <a:bodyPr wrap="square"/>
                    <a:lstStyle/>
                    <a:p>
                      <a:r>
                        <a:rPr sz="1400">
                          <a:solidFill>
                            <a:srgbClr val="2C3E50"/>
                          </a:solidFill>
                          <a:latin typeface="Arial"/>
                        </a:rPr>
                        <a:t>Time period of the data</a:t>
                      </a:r>
                    </a:p>
                  </a:txBody>
                  <a:tcPr/>
                </a:tc>
              </a:tr>
              <a:tr h="320040">
                <a:tc>
                  <a:txBody>
                    <a:bodyPr wrap="square"/>
                    <a:lstStyle/>
                    <a:p>
                      <a:r>
                        <a:rPr sz="1400">
                          <a:solidFill>
                            <a:srgbClr val="2C3E50"/>
                          </a:solidFill>
                          <a:latin typeface="Arial"/>
                        </a:rPr>
                        <a:t>Indicator name</a:t>
                      </a:r>
                    </a:p>
                  </a:txBody>
                  <a:tcPr/>
                </a:tc>
                <a:tc>
                  <a:txBody>
                    <a:bodyPr wrap="square"/>
                    <a:lstStyle/>
                    <a:p>
                      <a:r>
                        <a:rPr sz="1400">
                          <a:solidFill>
                            <a:srgbClr val="2C3E50"/>
                          </a:solidFill>
                          <a:latin typeface="Arial"/>
                        </a:rPr>
                        <a:t>Name of the indicator</a:t>
                      </a:r>
                    </a:p>
                  </a:txBody>
                  <a:tcPr/>
                </a:tc>
              </a:tr>
              <a:tr h="320040">
                <a:tc>
                  <a:txBody>
                    <a:bodyPr wrap="square"/>
                    <a:lstStyle/>
                    <a:p>
                      <a:r>
                        <a:rPr sz="1400">
                          <a:solidFill>
                            <a:srgbClr val="2C3E50"/>
                          </a:solidFill>
                          <a:latin typeface="Arial"/>
                        </a:rPr>
                        <a:t>Total/count</a:t>
                      </a:r>
                    </a:p>
                  </a:txBody>
                  <a:tcPr/>
                </a:tc>
                <a:tc>
                  <a:txBody>
                    <a:bodyPr wrap="square"/>
                    <a:lstStyle/>
                    <a:p>
                      <a:r>
                        <a:rPr sz="1400">
                          <a:solidFill>
                            <a:srgbClr val="2C3E50"/>
                          </a:solidFill>
                          <a:latin typeface="Arial"/>
                        </a:rPr>
                        <a:t>The aggregated value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How much data?</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103120"/>
          </a:xfrm>
          <a:prstGeom prst="rect">
            <a:avLst/>
          </a:prstGeom>
          <a:noFill/>
        </p:spPr>
        <p:txBody>
          <a:bodyPr wrap="square">
            <a:spAutoFit/>
          </a:bodyPr>
          <a:lstStyle/>
          <a:p>
            <a:pPr>
              <a:defRPr sz="2200" b="1" i="0">
                <a:solidFill>
                  <a:srgbClr val="7A1F6E"/>
                </a:solidFill>
                <a:latin typeface="Arial"/>
              </a:defRPr>
            </a:pPr>
            <a:r>
              <a:t>Initial FASTR analysis</a:t>
            </a:r>
          </a:p>
          <a:p>
            <a:r>
              <a:rPr sz="1600">
                <a:solidFill>
                  <a:srgbClr val="2C3E50"/>
                </a:solidFill>
                <a:latin typeface="Arial"/>
              </a:rPr>
              <a:t>• Download approximately </a:t>
            </a:r>
            <a:r>
              <a:rPr sz="1600" b="1">
                <a:solidFill>
                  <a:srgbClr val="2C3E50"/>
                </a:solidFill>
                <a:latin typeface="Arial"/>
              </a:rPr>
              <a:t>five years</a:t>
            </a:r>
            <a:r>
              <a:rPr sz="1600">
                <a:solidFill>
                  <a:srgbClr val="2C3E50"/>
                </a:solidFill>
                <a:latin typeface="Arial"/>
              </a:rPr>
              <a:t> of historical data</a:t>
            </a:r>
          </a:p>
          <a:p>
            <a:r>
              <a:rPr sz="1600">
                <a:solidFill>
                  <a:srgbClr val="2C3E50"/>
                </a:solidFill>
                <a:latin typeface="Arial"/>
              </a:rPr>
              <a:t>• Exact period depends on data availability and consistency in indicator definitions</a:t>
            </a:r>
          </a:p>
          <a:p>
            <a:pPr>
              <a:defRPr sz="2200" b="1" i="0">
                <a:solidFill>
                  <a:srgbClr val="7A1F6E"/>
                </a:solidFill>
                <a:latin typeface="Arial"/>
              </a:defRPr>
            </a:pPr>
            <a:r>
              <a:t>Routine update to FASTR analysis</a:t>
            </a:r>
          </a:p>
          <a:p>
            <a:r>
              <a:rPr sz="1600">
                <a:solidFill>
                  <a:srgbClr val="2C3E50"/>
                </a:solidFill>
                <a:latin typeface="Arial"/>
              </a:rPr>
              <a:t>• Download new data covering the most recent months not previously included (usually </a:t>
            </a:r>
            <a:r>
              <a:rPr sz="1600" b="1">
                <a:solidFill>
                  <a:srgbClr val="2C3E50"/>
                </a:solidFill>
                <a:latin typeface="Arial"/>
              </a:rPr>
              <a:t>three months</a:t>
            </a:r>
            <a:r>
              <a:rPr sz="1600">
                <a:solidFill>
                  <a:srgbClr val="2C3E50"/>
                </a:solidFill>
                <a:latin typeface="Arial"/>
              </a:rPr>
              <a:t> for quarterly implementation)</a:t>
            </a:r>
          </a:p>
          <a:p>
            <a:r>
              <a:rPr sz="1600">
                <a:solidFill>
                  <a:srgbClr val="2C3E50"/>
                </a:solidFill>
                <a:latin typeface="Arial"/>
              </a:rPr>
              <a:t>• Include the </a:t>
            </a:r>
            <a:r>
              <a:rPr sz="1600" b="1">
                <a:solidFill>
                  <a:srgbClr val="2C3E50"/>
                </a:solidFill>
                <a:latin typeface="Arial"/>
              </a:rPr>
              <a:t>three preceding months</a:t>
            </a:r>
            <a:r>
              <a:rPr sz="1600">
                <a:solidFill>
                  <a:srgbClr val="2C3E50"/>
                </a:solidFill>
                <a:latin typeface="Arial"/>
              </a:rPr>
              <a:t> as recent data is often subject to changes due to late reporting or data quality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Data extraction tools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651760"/>
          </a:xfrm>
          <a:prstGeom prst="rect">
            <a:avLst/>
          </a:prstGeom>
          <a:noFill/>
        </p:spPr>
        <p:txBody>
          <a:bodyPr wrap="square">
            <a:spAutoFit/>
          </a:bodyPr>
          <a:lstStyle/>
          <a:p>
            <a:r>
              <a:rPr sz="1600">
                <a:solidFill>
                  <a:srgbClr val="333333"/>
                </a:solidFill>
                <a:latin typeface="Arial"/>
              </a:rPr>
              <a:t>We offer two tools for bulk DHIS2 data extraction:</a:t>
            </a:r>
          </a:p>
          <a:p>
            <a:r>
              <a:rPr sz="1600" b="1">
                <a:solidFill>
                  <a:srgbClr val="333333"/>
                </a:solidFill>
                <a:latin typeface="Arial"/>
              </a:rPr>
              <a:t>API Script</a:t>
            </a:r>
            <a:r>
              <a:rPr sz="1600">
                <a:solidFill>
                  <a:srgbClr val="333333"/>
                </a:solidFill>
                <a:latin typeface="Arial"/>
              </a:rPr>
              <a:t> (Google Colab)</a:t>
            </a:r>
          </a:p>
          <a:p>
            <a:r>
              <a:rPr sz="1600">
                <a:solidFill>
                  <a:srgbClr val="2C3E50"/>
                </a:solidFill>
                <a:latin typeface="Arial"/>
              </a:rPr>
              <a:t>• Input login credentials, specify timeframes, indicators, and administrative levels</a:t>
            </a:r>
          </a:p>
          <a:p>
            <a:r>
              <a:rPr sz="1600">
                <a:solidFill>
                  <a:srgbClr val="2C3E50"/>
                </a:solidFill>
                <a:latin typeface="Arial"/>
              </a:rPr>
              <a:t>• Download data as a .csv file</a:t>
            </a:r>
          </a:p>
          <a:p>
            <a:r>
              <a:rPr sz="1600" b="1">
                <a:solidFill>
                  <a:srgbClr val="333333"/>
                </a:solidFill>
                <a:latin typeface="Arial"/>
              </a:rPr>
              <a:t>Data Downloader</a:t>
            </a:r>
          </a:p>
          <a:p>
            <a:r>
              <a:rPr sz="1600">
                <a:solidFill>
                  <a:srgbClr val="2C3E50"/>
                </a:solidFill>
                <a:latin typeface="Arial"/>
              </a:rPr>
              <a:t>• More intuitive, streamlined interface</a:t>
            </a:r>
          </a:p>
          <a:p>
            <a:r>
              <a:rPr sz="1600">
                <a:solidFill>
                  <a:srgbClr val="2C3E50"/>
                </a:solidFill>
                <a:latin typeface="Arial"/>
              </a:rPr>
              <a:t>• Recommended for most users</a:t>
            </a:r>
          </a:p>
          <a:p>
            <a:r>
              <a:rPr sz="1600">
                <a:solidFill>
                  <a:srgbClr val="333333"/>
                </a:solidFill>
                <a:latin typeface="Arial"/>
              </a:rPr>
              <a:t>Both tools enable efficient data extraction, and we provide training resources to support their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DHIS2 Data Downloader</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926079"/>
          </a:xfrm>
          <a:prstGeom prst="rect">
            <a:avLst/>
          </a:prstGeom>
          <a:noFill/>
        </p:spPr>
        <p:txBody>
          <a:bodyPr wrap="square">
            <a:spAutoFit/>
          </a:bodyPr>
          <a:lstStyle/>
          <a:p>
            <a:r>
              <a:rPr sz="1600">
                <a:solidFill>
                  <a:srgbClr val="333333"/>
                </a:solidFill>
                <a:latin typeface="Arial"/>
              </a:rPr>
              <a:t>The Data Downloader is a desktop application for extracting data from DHIS2.</a:t>
            </a:r>
          </a:p>
          <a:p>
            <a:r>
              <a:rPr sz="1600" b="1">
                <a:solidFill>
                  <a:srgbClr val="333333"/>
                </a:solidFill>
                <a:latin typeface="Arial"/>
              </a:rPr>
              <a:t>Key features:</a:t>
            </a:r>
          </a:p>
          <a:p>
            <a:r>
              <a:rPr sz="1600">
                <a:solidFill>
                  <a:srgbClr val="2C3E50"/>
                </a:solidFill>
                <a:latin typeface="Arial"/>
              </a:rPr>
              <a:t>• Connect to any DHIS2 instance</a:t>
            </a:r>
          </a:p>
          <a:p>
            <a:r>
              <a:rPr sz="1600">
                <a:solidFill>
                  <a:srgbClr val="2C3E50"/>
                </a:solidFill>
                <a:latin typeface="Arial"/>
              </a:rPr>
              <a:t>• Browse and select data elements and indicators</a:t>
            </a:r>
          </a:p>
          <a:p>
            <a:r>
              <a:rPr sz="1600">
                <a:solidFill>
                  <a:srgbClr val="2C3E50"/>
                </a:solidFill>
                <a:latin typeface="Arial"/>
              </a:rPr>
              <a:t>• Download facility-level data in CSV format</a:t>
            </a:r>
          </a:p>
          <a:p>
            <a:r>
              <a:rPr sz="1600">
                <a:solidFill>
                  <a:srgbClr val="2C3E50"/>
                </a:solidFill>
                <a:latin typeface="Arial"/>
              </a:rPr>
              <a:t>• Maintain download history</a:t>
            </a:r>
          </a:p>
          <a:p>
            <a:r>
              <a:rPr sz="1600" b="1">
                <a:solidFill>
                  <a:srgbClr val="333333"/>
                </a:solidFill>
                <a:latin typeface="Arial"/>
              </a:rPr>
              <a:t>Download from GitHub:</a:t>
            </a:r>
          </a:p>
          <a:p>
            <a:r>
              <a:rPr sz="1600">
                <a:solidFill>
                  <a:srgbClr val="333333"/>
                </a:solidFill>
                <a:latin typeface="Arial"/>
              </a:rPr>
              <a:t>https://github.com/worldbank/DHIS2-Downloader/releases/</a:t>
            </a:r>
          </a:p>
          <a:p>
            <a:r>
              <a:rPr sz="1600" i="1">
                <a:solidFill>
                  <a:srgbClr val="333333"/>
                </a:solidFill>
                <a:latin typeface="Arial"/>
              </a:rPr>
              <a:t>Facilitator will demonstrate the Data Downloader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3: Introduction to the FASTR analytics platform</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Introduction to the FASTR Analytics Platform</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a:solidFill>
                  <a:srgbClr val="333333"/>
                </a:solidFill>
                <a:latin typeface="Arial"/>
              </a:rPr>
              <a:t>The FASTR analytics platform is a web-based tool for data quality assessment, adjustment, and analysis of routine health data.</a:t>
            </a:r>
          </a:p>
          <a:p>
            <a:r>
              <a:rPr sz="1600" b="1">
                <a:solidFill>
                  <a:srgbClr val="333333"/>
                </a:solidFill>
                <a:latin typeface="Arial"/>
              </a:rPr>
              <a:t>Key features:</a:t>
            </a:r>
          </a:p>
          <a:p>
            <a:r>
              <a:rPr sz="1600">
                <a:solidFill>
                  <a:srgbClr val="2C3E50"/>
                </a:solidFill>
                <a:latin typeface="Arial"/>
              </a:rPr>
              <a:t>• Upload and analyze data from DHIS2 and other sources</a:t>
            </a:r>
          </a:p>
          <a:p>
            <a:r>
              <a:rPr sz="1600">
                <a:solidFill>
                  <a:srgbClr val="2C3E50"/>
                </a:solidFill>
                <a:latin typeface="Arial"/>
              </a:rPr>
              <a:t>• Built-in statistical methods for data quality adjustment</a:t>
            </a:r>
          </a:p>
          <a:p>
            <a:r>
              <a:rPr sz="1600">
                <a:solidFill>
                  <a:srgbClr val="2C3E50"/>
                </a:solidFill>
                <a:latin typeface="Arial"/>
              </a:rPr>
              <a:t>• User-friendly interface for running analyses</a:t>
            </a:r>
          </a:p>
          <a:p>
            <a:r>
              <a:rPr sz="1600">
                <a:solidFill>
                  <a:srgbClr val="2C3E50"/>
                </a:solidFill>
                <a:latin typeface="Arial"/>
              </a:rPr>
              <a:t>• Flexible visualization and export options</a:t>
            </a:r>
          </a:p>
          <a:p>
            <a:r>
              <a:rPr sz="1600" b="1">
                <a:solidFill>
                  <a:srgbClr val="333333"/>
                </a:solidFill>
                <a:latin typeface="Arial"/>
              </a:rPr>
              <a:t>In this session, we will provide a conceptual walkthrough of the platform and its capabilities.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Live Demo: Platform Access &amp; Roles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103120"/>
          </a:xfrm>
          <a:prstGeom prst="rect">
            <a:avLst/>
          </a:prstGeom>
          <a:noFill/>
        </p:spPr>
        <p:txBody>
          <a:bodyPr wrap="square">
            <a:spAutoFit/>
          </a:bodyPr>
          <a:lstStyle/>
          <a:p>
            <a:r>
              <a:rPr sz="1600" b="1">
                <a:solidFill>
                  <a:srgbClr val="333333"/>
                </a:solidFill>
                <a:latin typeface="Arial"/>
              </a:rPr>
              <a:t>In this demo, we will:</a:t>
            </a:r>
          </a:p>
          <a:p>
            <a:r>
              <a:rPr sz="1600">
                <a:solidFill>
                  <a:srgbClr val="2C3E50"/>
                </a:solidFill>
                <a:latin typeface="Arial"/>
              </a:rPr>
              <a:t>• Navigate to the FASTR platform</a:t>
            </a:r>
          </a:p>
          <a:p>
            <a:r>
              <a:rPr sz="1600">
                <a:solidFill>
                  <a:srgbClr val="2C3E50"/>
                </a:solidFill>
                <a:latin typeface="Arial"/>
              </a:rPr>
              <a:t>• Explore user roles: Administrator, Editor, Viewer</a:t>
            </a:r>
          </a:p>
          <a:p>
            <a:r>
              <a:rPr sz="1600">
                <a:solidFill>
                  <a:srgbClr val="2C3E50"/>
                </a:solidFill>
                <a:latin typeface="Arial"/>
              </a:rPr>
              <a:t>• Review user management and permissions</a:t>
            </a:r>
          </a:p>
          <a:p>
            <a:r>
              <a:rPr sz="1600">
                <a:solidFill>
                  <a:srgbClr val="2C3E50"/>
                </a:solidFill>
                <a:latin typeface="Arial"/>
              </a:rPr>
              <a:t>• Understand the workflow for uploading data and making analytical decisions</a:t>
            </a:r>
          </a:p>
          <a:p>
            <a:r>
              <a:rPr sz="1600" i="1">
                <a:solidFill>
                  <a:srgbClr val="333333"/>
                </a:solidFill>
                <a:latin typeface="Arial"/>
              </a:rPr>
              <a:t>Facilitator will demonstrate in the live platform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4: Configuring the FASTR analytics platform</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Activity: Setting Up Admin Areas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b="1">
                <a:solidFill>
                  <a:srgbClr val="333333"/>
                </a:solidFill>
                <a:latin typeface="Arial"/>
              </a:rPr>
              <a:t>In this hands-on session, we will configure:</a:t>
            </a:r>
          </a:p>
          <a:p>
            <a:r>
              <a:rPr sz="1600">
                <a:solidFill>
                  <a:srgbClr val="2C3E50"/>
                </a:solidFill>
                <a:latin typeface="Arial"/>
              </a:rPr>
              <a:t>• Admin areas (regions, districts)</a:t>
            </a:r>
          </a:p>
          <a:p>
            <a:r>
              <a:rPr sz="1600">
                <a:solidFill>
                  <a:srgbClr val="2C3E50"/>
                </a:solidFill>
                <a:latin typeface="Arial"/>
              </a:rPr>
              <a:t>• Facility structure</a:t>
            </a:r>
          </a:p>
          <a:p>
            <a:r>
              <a:rPr sz="1600">
                <a:solidFill>
                  <a:srgbClr val="2C3E50"/>
                </a:solidFill>
                <a:latin typeface="Arial"/>
              </a:rPr>
              <a:t>• Indicator definitions</a:t>
            </a:r>
          </a:p>
          <a:p>
            <a:r>
              <a:rPr sz="1600" i="1">
                <a:solidFill>
                  <a:srgbClr val="333333"/>
                </a:solidFill>
                <a:latin typeface="Arial"/>
              </a:rPr>
              <a:t>Participants will work directly in the platform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Activity: Importing Data</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b="1">
                <a:solidFill>
                  <a:srgbClr val="333333"/>
                </a:solidFill>
                <a:latin typeface="Arial"/>
              </a:rPr>
              <a:t>In this hands-on session, we will:</a:t>
            </a:r>
          </a:p>
          <a:p>
            <a:r>
              <a:rPr sz="1600">
                <a:solidFill>
                  <a:srgbClr val="2C3E50"/>
                </a:solidFill>
                <a:latin typeface="Arial"/>
              </a:rPr>
              <a:t>• Review data format requirements</a:t>
            </a:r>
          </a:p>
          <a:p>
            <a:r>
              <a:rPr sz="1600">
                <a:solidFill>
                  <a:srgbClr val="2C3E50"/>
                </a:solidFill>
                <a:latin typeface="Arial"/>
              </a:rPr>
              <a:t>• Walk through the import process</a:t>
            </a:r>
          </a:p>
          <a:p>
            <a:r>
              <a:rPr sz="1600">
                <a:solidFill>
                  <a:srgbClr val="2C3E50"/>
                </a:solidFill>
                <a:latin typeface="Arial"/>
              </a:rPr>
              <a:t>• Handle validation and error checking</a:t>
            </a:r>
          </a:p>
          <a:p>
            <a:r>
              <a:rPr sz="1600" i="1">
                <a:solidFill>
                  <a:srgbClr val="333333"/>
                </a:solidFill>
                <a:latin typeface="Arial"/>
              </a:rPr>
              <a:t>Participants will import their country's data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Activity: Installing and Running Modules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b="1">
                <a:solidFill>
                  <a:srgbClr val="333333"/>
                </a:solidFill>
                <a:latin typeface="Arial"/>
              </a:rPr>
              <a:t>In this hands-on session, we will:</a:t>
            </a:r>
          </a:p>
          <a:p>
            <a:r>
              <a:rPr sz="1600">
                <a:solidFill>
                  <a:srgbClr val="2C3E50"/>
                </a:solidFill>
                <a:latin typeface="Arial"/>
              </a:rPr>
              <a:t>• Review available analysis modules</a:t>
            </a:r>
          </a:p>
          <a:p>
            <a:r>
              <a:rPr sz="1600">
                <a:solidFill>
                  <a:srgbClr val="2C3E50"/>
                </a:solidFill>
                <a:latin typeface="Arial"/>
              </a:rPr>
              <a:t>• Install required modules</a:t>
            </a:r>
          </a:p>
          <a:p>
            <a:r>
              <a:rPr sz="1600">
                <a:solidFill>
                  <a:srgbClr val="2C3E50"/>
                </a:solidFill>
                <a:latin typeface="Arial"/>
              </a:rPr>
              <a:t>• Run initial analyses</a:t>
            </a:r>
          </a:p>
          <a:p>
            <a:r>
              <a:rPr sz="1600" i="1">
                <a:solidFill>
                  <a:srgbClr val="333333"/>
                </a:solidFill>
                <a:latin typeface="Arial"/>
              </a:rPr>
              <a:t>Participants will configure and run modules on their 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1 Key Messages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Today we covered:</a:t>
            </a:r>
          </a:p>
          <a:p>
            <a:r>
              <a:rPr sz="1600">
                <a:solidFill>
                  <a:srgbClr val="2C3E50"/>
                </a:solidFill>
                <a:latin typeface="Arial"/>
              </a:rPr>
              <a:t>• Overview of the FASTR approach and methodology</a:t>
            </a:r>
          </a:p>
          <a:p>
            <a:r>
              <a:rPr sz="1600">
                <a:solidFill>
                  <a:srgbClr val="2C3E50"/>
                </a:solidFill>
                <a:latin typeface="Arial"/>
              </a:rPr>
              <a:t>• Data extraction methods and tools for DHIS2</a:t>
            </a:r>
          </a:p>
          <a:p>
            <a:r>
              <a:rPr sz="1600">
                <a:solidFill>
                  <a:srgbClr val="2C3E50"/>
                </a:solidFill>
                <a:latin typeface="Arial"/>
              </a:rPr>
              <a:t>• Introduction to the FASTR Analytics Platform</a:t>
            </a:r>
          </a:p>
          <a:p>
            <a:r>
              <a:rPr sz="1600">
                <a:solidFill>
                  <a:srgbClr val="2C3E50"/>
                </a:solidFill>
                <a:latin typeface="Arial"/>
              </a:rPr>
              <a:t>• Initial platform configuration for Zambia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Looking Ahead to Day 2</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554480"/>
          </a:xfrm>
          <a:prstGeom prst="rect">
            <a:avLst/>
          </a:prstGeom>
          <a:noFill/>
        </p:spPr>
        <p:txBody>
          <a:bodyPr wrap="square">
            <a:spAutoFit/>
          </a:bodyPr>
          <a:lstStyle/>
          <a:p>
            <a:r>
              <a:rPr sz="1600">
                <a:solidFill>
                  <a:srgbClr val="333333"/>
                </a:solidFill>
                <a:latin typeface="Arial"/>
              </a:rPr>
              <a:t>Tomorrow we will focus on:</a:t>
            </a:r>
          </a:p>
          <a:p>
            <a:r>
              <a:rPr sz="1600">
                <a:solidFill>
                  <a:srgbClr val="2C3E50"/>
                </a:solidFill>
                <a:latin typeface="Arial"/>
              </a:rPr>
              <a:t>• Creating your first project in the platform</a:t>
            </a:r>
          </a:p>
          <a:p>
            <a:r>
              <a:rPr sz="1600">
                <a:solidFill>
                  <a:srgbClr val="2C3E50"/>
                </a:solidFill>
                <a:latin typeface="Arial"/>
              </a:rPr>
              <a:t>• Building visualizations from your data</a:t>
            </a:r>
          </a:p>
          <a:p>
            <a:r>
              <a:rPr sz="1600">
                <a:solidFill>
                  <a:srgbClr val="2C3E50"/>
                </a:solidFill>
                <a:latin typeface="Arial"/>
              </a:rPr>
              <a:t>• Generating reports for decision-making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2</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Recap</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On Day 1, we covered:</a:t>
            </a:r>
          </a:p>
          <a:p>
            <a:r>
              <a:rPr sz="1600">
                <a:solidFill>
                  <a:srgbClr val="2C3E50"/>
                </a:solidFill>
                <a:latin typeface="Arial"/>
              </a:rPr>
              <a:t>• The FASTR approach and rapid-cycle analytics methodology</a:t>
            </a:r>
          </a:p>
          <a:p>
            <a:r>
              <a:rPr sz="1600">
                <a:solidFill>
                  <a:srgbClr val="2C3E50"/>
                </a:solidFill>
                <a:latin typeface="Arial"/>
              </a:rPr>
              <a:t>• Data extraction from DHIS2 using the Data Downloader</a:t>
            </a:r>
          </a:p>
          <a:p>
            <a:r>
              <a:rPr sz="1600">
                <a:solidFill>
                  <a:srgbClr val="2C3E50"/>
                </a:solidFill>
                <a:latin typeface="Arial"/>
              </a:rPr>
              <a:t>• Introduction to the FASTR Analytics Platform</a:t>
            </a:r>
          </a:p>
          <a:p>
            <a:r>
              <a:rPr sz="1600">
                <a:solidFill>
                  <a:srgbClr val="2C3E50"/>
                </a:solidFill>
                <a:latin typeface="Arial"/>
              </a:rPr>
              <a:t>• Platform configuration: admin areas, data import, modules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2 Focus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Today we will:</a:t>
            </a:r>
          </a:p>
          <a:p>
            <a:r>
              <a:rPr sz="1600">
                <a:solidFill>
                  <a:srgbClr val="2C3E50"/>
                </a:solidFill>
                <a:latin typeface="Arial"/>
              </a:rPr>
              <a:t>• Explore FASTR methods for data quality and analysis</a:t>
            </a:r>
          </a:p>
          <a:p>
            <a:r>
              <a:rPr sz="1600">
                <a:solidFill>
                  <a:srgbClr val="2C3E50"/>
                </a:solidFill>
                <a:latin typeface="Arial"/>
              </a:rPr>
              <a:t>• Create and configure projects</a:t>
            </a:r>
          </a:p>
          <a:p>
            <a:r>
              <a:rPr sz="1600">
                <a:solidFill>
                  <a:srgbClr val="2C3E50"/>
                </a:solidFill>
                <a:latin typeface="Arial"/>
              </a:rPr>
              <a:t>• Build visualizations</a:t>
            </a:r>
          </a:p>
          <a:p>
            <a:r>
              <a:rPr sz="1600">
                <a:solidFill>
                  <a:srgbClr val="2C3E50"/>
                </a:solidFill>
                <a:latin typeface="Arial"/>
              </a:rPr>
              <a:t>• Generate reports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5: Overview of FASTR methods and analytical outputs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FASTR Analytical Methods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731520"/>
          </a:xfrm>
          <a:prstGeom prst="rect">
            <a:avLst/>
          </a:prstGeom>
          <a:noFill/>
        </p:spPr>
        <p:txBody>
          <a:bodyPr wrap="square">
            <a:spAutoFit/>
          </a:bodyPr>
          <a:lstStyle/>
          <a:p>
            <a:r>
              <a:rPr sz="1600">
                <a:solidFill>
                  <a:srgbClr val="333333"/>
                </a:solidFill>
                <a:latin typeface="Arial"/>
              </a:rPr>
              <a:t>Overview of the analytical pipeline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Analytical Components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1920240"/>
        </p:xfrm>
        <a:graphic>
          <a:graphicData uri="http://schemas.openxmlformats.org/drawingml/2006/table">
            <a:tbl>
              <a:tblPr firstRow="1" bandRow="1">
                <a:tableStyleId>{5C22544A-7EE6-4342-B048-85BDC9FD1C3A}</a:tableStyleId>
              </a:tblPr>
              <a:tblGrid>
                <a:gridCol w="3704933"/>
                <a:gridCol w="7542186"/>
              </a:tblGrid>
              <a:tr h="320040">
                <a:tc>
                  <a:txBody>
                    <a:bodyPr wrap="square"/>
                    <a:lstStyle/>
                    <a:p>
                      <a:pPr>
                        <a:defRPr sz="1400" b="1">
                          <a:solidFill>
                            <a:srgbClr val="21568C"/>
                          </a:solidFill>
                          <a:latin typeface="Arial"/>
                        </a:defRPr>
                      </a:pPr>
                      <a:r>
                        <a:t>Component</a:t>
                      </a:r>
                    </a:p>
                  </a:txBody>
                  <a:tcPr>
                    <a:solidFill>
                      <a:srgbClr val="CAE6E9"/>
                    </a:solidFill>
                  </a:tcPr>
                </a:tc>
                <a:tc>
                  <a:txBody>
                    <a:bodyPr wrap="square"/>
                    <a:lstStyle/>
                    <a:p>
                      <a:pPr>
                        <a:defRPr sz="1400" b="1">
                          <a:solidFill>
                            <a:srgbClr val="21568C"/>
                          </a:solidFill>
                          <a:latin typeface="Arial"/>
                        </a:defRPr>
                      </a:pPr>
                      <a:r>
                        <a:t>Purpose</a:t>
                      </a:r>
                    </a:p>
                  </a:txBody>
                  <a:tcPr>
                    <a:solidFill>
                      <a:srgbClr val="CAE6E9"/>
                    </a:solidFill>
                  </a:tcPr>
                </a:tc>
              </a:tr>
              <a:tr h="320040">
                <a:tc>
                  <a:txBody>
                    <a:bodyPr wrap="square"/>
                    <a:lstStyle/>
                    <a:p>
                      <a:r>
                        <a:rPr sz="1400" b="1">
                          <a:solidFill>
                            <a:srgbClr val="2C3E50"/>
                          </a:solidFill>
                          <a:latin typeface="Arial"/>
                        </a:rPr>
                        <a:t>Data Quality Assessment</a:t>
                      </a:r>
                    </a:p>
                  </a:txBody>
                  <a:tcPr/>
                </a:tc>
                <a:tc>
                  <a:txBody>
                    <a:bodyPr wrap="square"/>
                    <a:lstStyle/>
                    <a:p>
                      <a:r>
                        <a:rPr sz="1400">
                          <a:solidFill>
                            <a:srgbClr val="2C3E50"/>
                          </a:solidFill>
                          <a:latin typeface="Arial"/>
                        </a:rPr>
                        <a:t>Evaluate completeness, outliers, and internal consistency</a:t>
                      </a:r>
                    </a:p>
                  </a:txBody>
                  <a:tcPr/>
                </a:tc>
              </a:tr>
              <a:tr h="320040">
                <a:tc>
                  <a:txBody>
                    <a:bodyPr wrap="square"/>
                    <a:lstStyle/>
                    <a:p>
                      <a:r>
                        <a:rPr sz="1400" b="1">
                          <a:solidFill>
                            <a:srgbClr val="2C3E50"/>
                          </a:solidFill>
                          <a:latin typeface="Arial"/>
                        </a:rPr>
                        <a:t>Data Quality Adjustment</a:t>
                      </a:r>
                    </a:p>
                  </a:txBody>
                  <a:tcPr/>
                </a:tc>
                <a:tc>
                  <a:txBody>
                    <a:bodyPr wrap="square"/>
                    <a:lstStyle/>
                    <a:p>
                      <a:r>
                        <a:rPr sz="1400">
                          <a:solidFill>
                            <a:srgbClr val="2C3E50"/>
                          </a:solidFill>
                          <a:latin typeface="Arial"/>
                        </a:rPr>
                        <a:t>Apply statistical corrections for identified issues</a:t>
                      </a:r>
                    </a:p>
                  </a:txBody>
                  <a:tcPr/>
                </a:tc>
              </a:tr>
              <a:tr h="320040">
                <a:tc>
                  <a:txBody>
                    <a:bodyPr wrap="square"/>
                    <a:lstStyle/>
                    <a:p>
                      <a:r>
                        <a:rPr sz="1400" b="1">
                          <a:solidFill>
                            <a:srgbClr val="2C3E50"/>
                          </a:solidFill>
                          <a:latin typeface="Arial"/>
                        </a:rPr>
                        <a:t>Service Utilization Analysis</a:t>
                      </a:r>
                    </a:p>
                  </a:txBody>
                  <a:tcPr/>
                </a:tc>
                <a:tc>
                  <a:txBody>
                    <a:bodyPr wrap="square"/>
                    <a:lstStyle/>
                    <a:p>
                      <a:r>
                        <a:rPr sz="1400">
                          <a:solidFill>
                            <a:srgbClr val="2C3E50"/>
                          </a:solidFill>
                          <a:latin typeface="Arial"/>
                        </a:rPr>
                        <a:t>Quantify health service delivery volumes and trends</a:t>
                      </a:r>
                    </a:p>
                  </a:txBody>
                  <a:tcPr/>
                </a:tc>
              </a:tr>
              <a:tr h="320040">
                <a:tc>
                  <a:txBody>
                    <a:bodyPr wrap="square"/>
                    <a:lstStyle/>
                    <a:p>
                      <a:r>
                        <a:rPr sz="1400" b="1">
                          <a:solidFill>
                            <a:srgbClr val="2C3E50"/>
                          </a:solidFill>
                          <a:latin typeface="Arial"/>
                        </a:rPr>
                        <a:t>Disruption Detection</a:t>
                      </a:r>
                    </a:p>
                  </a:txBody>
                  <a:tcPr/>
                </a:tc>
                <a:tc>
                  <a:txBody>
                    <a:bodyPr wrap="square"/>
                    <a:lstStyle/>
                    <a:p>
                      <a:r>
                        <a:rPr sz="1400">
                          <a:solidFill>
                            <a:srgbClr val="2C3E50"/>
                          </a:solidFill>
                          <a:latin typeface="Arial"/>
                        </a:rPr>
                        <a:t>Identify significant deviations from expected patterns</a:t>
                      </a:r>
                    </a:p>
                  </a:txBody>
                  <a:tcPr/>
                </a:tc>
              </a:tr>
              <a:tr h="320040">
                <a:tc>
                  <a:txBody>
                    <a:bodyPr wrap="square"/>
                    <a:lstStyle/>
                    <a:p>
                      <a:r>
                        <a:rPr sz="1400" b="1">
                          <a:solidFill>
                            <a:srgbClr val="2C3E50"/>
                          </a:solidFill>
                          <a:latin typeface="Arial"/>
                        </a:rPr>
                        <a:t>Coverage Estimation</a:t>
                      </a:r>
                    </a:p>
                  </a:txBody>
                  <a:tcPr/>
                </a:tc>
                <a:tc>
                  <a:txBody>
                    <a:bodyPr wrap="square"/>
                    <a:lstStyle/>
                    <a:p>
                      <a:r>
                        <a:rPr sz="1400">
                          <a:solidFill>
                            <a:srgbClr val="2C3E50"/>
                          </a:solidFill>
                          <a:latin typeface="Arial"/>
                        </a:rPr>
                        <a:t>Calculate population-level service coverage rates</a:t>
                      </a:r>
                    </a:p>
                  </a:txBody>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Data quality assessment</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731520"/>
          </a:xfrm>
          <a:prstGeom prst="rect">
            <a:avLst/>
          </a:prstGeom>
          <a:noFill/>
        </p:spPr>
        <p:txBody>
          <a:bodyPr wrap="square">
            <a:spAutoFit/>
          </a:bodyPr>
          <a:lstStyle/>
          <a:p>
            <a:r>
              <a:rPr sz="1600">
                <a:solidFill>
                  <a:srgbClr val="333333"/>
                </a:solidFill>
                <a:latin typeface="Arial"/>
              </a:rPr>
              <a:t>Understanding the reliability of routine health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Why talk about data quality?</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926079"/>
          </a:xfrm>
          <a:prstGeom prst="rect">
            <a:avLst/>
          </a:prstGeom>
          <a:noFill/>
        </p:spPr>
        <p:txBody>
          <a:bodyPr wrap="square">
            <a:spAutoFit/>
          </a:bodyPr>
          <a:lstStyle/>
          <a:p>
            <a:r>
              <a:rPr sz="1600" b="1">
                <a:solidFill>
                  <a:srgbClr val="333333"/>
                </a:solidFill>
                <a:latin typeface="Arial"/>
              </a:rPr>
              <a:t>The challenge:</a:t>
            </a:r>
            <a:r>
              <a:rPr sz="1600">
                <a:solidFill>
                  <a:srgbClr val="333333"/>
                </a:solidFill>
                <a:latin typeface="Arial"/>
              </a:rPr>
              <a:t> Health facilities report data every month, but sometimes:</a:t>
            </a:r>
          </a:p>
          <a:p>
            <a:r>
              <a:rPr sz="1600">
                <a:solidFill>
                  <a:srgbClr val="2C3E50"/>
                </a:solidFill>
                <a:latin typeface="Arial"/>
              </a:rPr>
              <a:t>• Numbers seem too high or too low</a:t>
            </a:r>
          </a:p>
          <a:p>
            <a:r>
              <a:rPr sz="1600">
                <a:solidFill>
                  <a:srgbClr val="2C3E50"/>
                </a:solidFill>
                <a:latin typeface="Arial"/>
              </a:rPr>
              <a:t>• Facilities forget to report</a:t>
            </a:r>
          </a:p>
          <a:p>
            <a:r>
              <a:rPr sz="1600">
                <a:solidFill>
                  <a:srgbClr val="2C3E50"/>
                </a:solidFill>
                <a:latin typeface="Arial"/>
              </a:rPr>
              <a:t>• Related numbers don't match up</a:t>
            </a:r>
          </a:p>
          <a:p>
            <a:r>
              <a:rPr sz="1600" b="1">
                <a:solidFill>
                  <a:srgbClr val="333333"/>
                </a:solidFill>
                <a:latin typeface="Arial"/>
              </a:rPr>
              <a:t>The impact:</a:t>
            </a:r>
            <a:r>
              <a:rPr sz="1600">
                <a:solidFill>
                  <a:srgbClr val="333333"/>
                </a:solidFill>
                <a:latin typeface="Arial"/>
              </a:rPr>
              <a:t> Bad data leads to bad decisions</a:t>
            </a:r>
          </a:p>
          <a:p>
            <a:r>
              <a:rPr sz="1600">
                <a:solidFill>
                  <a:srgbClr val="2C3E50"/>
                </a:solidFill>
                <a:latin typeface="Arial"/>
              </a:rPr>
              <a:t>• We might think services are improving when they're not</a:t>
            </a:r>
          </a:p>
          <a:p>
            <a:r>
              <a:rPr sz="1600">
                <a:solidFill>
                  <a:srgbClr val="2C3E50"/>
                </a:solidFill>
                <a:latin typeface="Arial"/>
              </a:rPr>
              <a:t>• We might miss real problems in certain areas</a:t>
            </a:r>
          </a:p>
          <a:p>
            <a:r>
              <a:rPr sz="1600">
                <a:solidFill>
                  <a:srgbClr val="2C3E50"/>
                </a:solidFill>
                <a:latin typeface="Arial"/>
              </a:rPr>
              <a:t>• Resources might go to the wrong places</a:t>
            </a:r>
          </a:p>
          <a:p>
            <a:r>
              <a:rPr sz="1600" b="1">
                <a:solidFill>
                  <a:srgbClr val="333333"/>
                </a:solidFill>
                <a:latin typeface="Arial"/>
              </a:rPr>
              <a:t>FASTR's solution:</a:t>
            </a:r>
            <a:r>
              <a:rPr sz="1600">
                <a:solidFill>
                  <a:srgbClr val="333333"/>
                </a:solidFill>
                <a:latin typeface="Arial"/>
              </a:rPr>
              <a:t> Check data quality systematically, fix what we can, and be transparent about limitations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Three simple questions about data quality</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b="1">
                <a:solidFill>
                  <a:srgbClr val="333333"/>
                </a:solidFill>
                <a:latin typeface="Arial"/>
              </a:rPr>
              <a:t>1. Are facilities reporting regularly?</a:t>
            </a:r>
          </a:p>
          <a:p>
            <a:r>
              <a:rPr sz="1600">
                <a:solidFill>
                  <a:srgbClr val="2C3E50"/>
                </a:solidFill>
                <a:latin typeface="Arial"/>
              </a:rPr>
              <a:t>• Completeness: Did we get reports from facilities this month?</a:t>
            </a:r>
          </a:p>
          <a:p>
            <a:r>
              <a:rPr sz="1600" b="1">
                <a:solidFill>
                  <a:srgbClr val="333333"/>
                </a:solidFill>
                <a:latin typeface="Arial"/>
              </a:rPr>
              <a:t>2. Are the numbers reasonable?</a:t>
            </a:r>
          </a:p>
          <a:p>
            <a:r>
              <a:rPr sz="1600">
                <a:solidFill>
                  <a:srgbClr val="2C3E50"/>
                </a:solidFill>
                <a:latin typeface="Arial"/>
              </a:rPr>
              <a:t>• Outliers: Are there any suspiciously high values?</a:t>
            </a:r>
          </a:p>
          <a:p>
            <a:r>
              <a:rPr sz="1600" b="1">
                <a:solidFill>
                  <a:srgbClr val="333333"/>
                </a:solidFill>
                <a:latin typeface="Arial"/>
              </a:rPr>
              <a:t>3. Do related numbers make sense together?</a:t>
            </a:r>
          </a:p>
          <a:p>
            <a:r>
              <a:rPr sz="1600">
                <a:solidFill>
                  <a:srgbClr val="2C3E50"/>
                </a:solidFill>
                <a:latin typeface="Arial"/>
              </a:rPr>
              <a:t>• Consistency: Do related services show expected patterns?</a:t>
            </a:r>
          </a:p>
          <a:p>
            <a:r>
              <a:rPr sz="1600">
                <a:solidFill>
                  <a:srgbClr val="333333"/>
                </a:solidFill>
                <a:latin typeface="Arial"/>
              </a:rPr>
              <a:t>These three questions help us understand if we can trust the data for decision-making.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Approach to data quality adjustment</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554480"/>
          </a:xfrm>
          <a:prstGeom prst="rect">
            <a:avLst/>
          </a:prstGeom>
          <a:noFill/>
        </p:spPr>
        <p:txBody>
          <a:bodyPr wrap="square">
            <a:spAutoFit/>
          </a:bodyPr>
          <a:lstStyle/>
          <a:p>
            <a:r>
              <a:rPr sz="1600">
                <a:solidFill>
                  <a:srgbClr val="333333"/>
                </a:solidFill>
                <a:latin typeface="Arial"/>
              </a:rPr>
              <a:t>The Data Quality Adjustment module (Module 2 in the FASTR analytics platform) systematically corrects two common problems in routine health facility data:</a:t>
            </a:r>
          </a:p>
          <a:p>
            <a:r>
              <a:rPr sz="1600">
                <a:solidFill>
                  <a:srgbClr val="2C3E50"/>
                </a:solidFill>
                <a:latin typeface="Arial"/>
              </a:rPr>
              <a:t>• </a:t>
            </a:r>
            <a:r>
              <a:rPr sz="1600" b="1">
                <a:solidFill>
                  <a:srgbClr val="2C3E50"/>
                </a:solidFill>
                <a:latin typeface="Arial"/>
              </a:rPr>
              <a:t>Outliers</a:t>
            </a:r>
            <a:r>
              <a:rPr sz="1600">
                <a:solidFill>
                  <a:srgbClr val="2C3E50"/>
                </a:solidFill>
                <a:latin typeface="Arial"/>
              </a:rPr>
              <a:t> - extreme values caused by reporting errors or data entry mistakes</a:t>
            </a:r>
          </a:p>
          <a:p>
            <a:r>
              <a:rPr sz="1600">
                <a:solidFill>
                  <a:srgbClr val="2C3E50"/>
                </a:solidFill>
                <a:latin typeface="Arial"/>
              </a:rPr>
              <a:t>• </a:t>
            </a:r>
            <a:r>
              <a:rPr sz="1600" b="1">
                <a:solidFill>
                  <a:srgbClr val="2C3E50"/>
                </a:solidFill>
                <a:latin typeface="Arial"/>
              </a:rPr>
              <a:t>Missing data</a:t>
            </a:r>
            <a:r>
              <a:rPr sz="1600">
                <a:solidFill>
                  <a:srgbClr val="2C3E50"/>
                </a:solidFill>
                <a:latin typeface="Arial"/>
              </a:rPr>
              <a:t> - from incomplete reporting</a:t>
            </a:r>
          </a:p>
          <a:p>
            <a:r>
              <a:rPr sz="1600">
                <a:solidFill>
                  <a:srgbClr val="333333"/>
                </a:solidFill>
                <a:latin typeface="Arial"/>
              </a:rPr>
              <a:t>Rather than simply deleting problematic data, this module replaces questionable values with statistically sound estimates based on each facility's own historical patterns.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Four adjustment scenarios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1600200"/>
        </p:xfrm>
        <a:graphic>
          <a:graphicData uri="http://schemas.openxmlformats.org/drawingml/2006/table">
            <a:tbl>
              <a:tblPr firstRow="1" bandRow="1">
                <a:tableStyleId>{5C22544A-7EE6-4342-B048-85BDC9FD1C3A}</a:tableStyleId>
              </a:tblPr>
              <a:tblGrid>
                <a:gridCol w="3824020"/>
                <a:gridCol w="7423099"/>
              </a:tblGrid>
              <a:tr h="320040">
                <a:tc>
                  <a:txBody>
                    <a:bodyPr wrap="square"/>
                    <a:lstStyle/>
                    <a:p>
                      <a:pPr>
                        <a:defRPr sz="1400" b="1">
                          <a:solidFill>
                            <a:srgbClr val="21568C"/>
                          </a:solidFill>
                          <a:latin typeface="Arial"/>
                        </a:defRPr>
                      </a:pPr>
                      <a:r>
                        <a:t>Scenario</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None</a:t>
                      </a:r>
                    </a:p>
                  </a:txBody>
                  <a:tcPr/>
                </a:tc>
                <a:tc>
                  <a:txBody>
                    <a:bodyPr wrap="square"/>
                    <a:lstStyle/>
                    <a:p>
                      <a:r>
                        <a:rPr sz="1400">
                          <a:solidFill>
                            <a:srgbClr val="2C3E50"/>
                          </a:solidFill>
                          <a:latin typeface="Arial"/>
                        </a:rPr>
                        <a:t>Original data, no adjustments</a:t>
                      </a:r>
                    </a:p>
                  </a:txBody>
                  <a:tcPr/>
                </a:tc>
              </a:tr>
              <a:tr h="320040">
                <a:tc>
                  <a:txBody>
                    <a:bodyPr wrap="square"/>
                    <a:lstStyle/>
                    <a:p>
                      <a:r>
                        <a:rPr sz="1400" b="1">
                          <a:solidFill>
                            <a:srgbClr val="2C3E50"/>
                          </a:solidFill>
                          <a:latin typeface="Arial"/>
                        </a:rPr>
                        <a:t>Outliers only</a:t>
                      </a:r>
                    </a:p>
                  </a:txBody>
                  <a:tcPr/>
                </a:tc>
                <a:tc>
                  <a:txBody>
                    <a:bodyPr wrap="square"/>
                    <a:lstStyle/>
                    <a:p>
                      <a:r>
                        <a:rPr sz="1400">
                          <a:solidFill>
                            <a:srgbClr val="2C3E50"/>
                          </a:solidFill>
                          <a:latin typeface="Arial"/>
                        </a:rPr>
                        <a:t>Only outlier corrections applied</a:t>
                      </a:r>
                    </a:p>
                  </a:txBody>
                  <a:tcPr/>
                </a:tc>
              </a:tr>
              <a:tr h="320040">
                <a:tc>
                  <a:txBody>
                    <a:bodyPr wrap="square"/>
                    <a:lstStyle/>
                    <a:p>
                      <a:r>
                        <a:rPr sz="1400" b="1">
                          <a:solidFill>
                            <a:srgbClr val="2C3E50"/>
                          </a:solidFill>
                          <a:latin typeface="Arial"/>
                        </a:rPr>
                        <a:t>Completeness only</a:t>
                      </a:r>
                    </a:p>
                  </a:txBody>
                  <a:tcPr/>
                </a:tc>
                <a:tc>
                  <a:txBody>
                    <a:bodyPr wrap="square"/>
                    <a:lstStyle/>
                    <a:p>
                      <a:r>
                        <a:rPr sz="1400">
                          <a:solidFill>
                            <a:srgbClr val="2C3E50"/>
                          </a:solidFill>
                          <a:latin typeface="Arial"/>
                        </a:rPr>
                        <a:t>Only missing data filled in</a:t>
                      </a:r>
                    </a:p>
                  </a:txBody>
                  <a:tcPr/>
                </a:tc>
              </a:tr>
              <a:tr h="320040">
                <a:tc>
                  <a:txBody>
                    <a:bodyPr wrap="square"/>
                    <a:lstStyle/>
                    <a:p>
                      <a:r>
                        <a:rPr sz="1400" b="1">
                          <a:solidFill>
                            <a:srgbClr val="2C3E50"/>
                          </a:solidFill>
                          <a:latin typeface="Arial"/>
                        </a:rPr>
                        <a:t>Both</a:t>
                      </a:r>
                    </a:p>
                  </a:txBody>
                  <a:tcPr/>
                </a:tc>
                <a:tc>
                  <a:txBody>
                    <a:bodyPr wrap="square"/>
                    <a:lstStyle/>
                    <a:p>
                      <a:r>
                        <a:rPr sz="1400">
                          <a:solidFill>
                            <a:srgbClr val="2C3E50"/>
                          </a:solidFill>
                          <a:latin typeface="Arial"/>
                        </a:rPr>
                        <a:t>Both types of corrections applied</a:t>
                      </a:r>
                    </a:p>
                  </a:txBody>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Service utilization analysis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a:solidFill>
                  <a:srgbClr val="333333"/>
                </a:solidFill>
                <a:latin typeface="Arial"/>
              </a:rPr>
              <a:t>The Service Utilization module (Module 3 in the FASTR analytics platform) analyzes health service delivery patterns to detect and quantify disruptions in service volumes over time.</a:t>
            </a:r>
          </a:p>
          <a:p>
            <a:r>
              <a:rPr sz="1600" b="1">
                <a:solidFill>
                  <a:srgbClr val="333333"/>
                </a:solidFill>
                <a:latin typeface="Arial"/>
              </a:rPr>
              <a:t>Key capabilities:</a:t>
            </a:r>
          </a:p>
          <a:p>
            <a:r>
              <a:rPr sz="1600">
                <a:solidFill>
                  <a:srgbClr val="2C3E50"/>
                </a:solidFill>
                <a:latin typeface="Arial"/>
              </a:rPr>
              <a:t>• Identifies when health services deviate significantly from expected patterns</a:t>
            </a:r>
          </a:p>
          <a:p>
            <a:r>
              <a:rPr sz="1600">
                <a:solidFill>
                  <a:srgbClr val="2C3E50"/>
                </a:solidFill>
                <a:latin typeface="Arial"/>
              </a:rPr>
              <a:t>• Measures magnitude of disruptions at national, provincial, and district levels</a:t>
            </a:r>
          </a:p>
          <a:p>
            <a:r>
              <a:rPr sz="1600">
                <a:solidFill>
                  <a:srgbClr val="2C3E50"/>
                </a:solidFill>
                <a:latin typeface="Arial"/>
              </a:rPr>
              <a:t>• Distinguishes normal fluctuations from genuine disruptions requiring investigation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594360"/>
            <a:ext cx="11277295" cy="2651760"/>
          </a:xfrm>
          <a:prstGeom prst="rect">
            <a:avLst/>
          </a:prstGeom>
          <a:noFill/>
        </p:spPr>
        <p:txBody>
          <a:bodyPr wrap="square">
            <a:spAutoFit/>
          </a:bodyPr>
          <a:lstStyle/>
          <a:p>
            <a:pPr>
              <a:defRPr sz="2200" b="1" i="0">
                <a:solidFill>
                  <a:srgbClr val="7A1F6E"/>
                </a:solidFill>
                <a:latin typeface="Arial"/>
              </a:defRPr>
            </a:pPr>
            <a:r>
              <a:t>Two-stage analysis process</a:t>
            </a:r>
          </a:p>
          <a:p>
            <a:r>
              <a:rPr sz="1600" b="1">
                <a:solidFill>
                  <a:srgbClr val="333333"/>
                </a:solidFill>
                <a:latin typeface="Arial"/>
              </a:rPr>
              <a:t>Part 1: Control chart analysis</a:t>
            </a:r>
          </a:p>
          <a:p>
            <a:r>
              <a:rPr sz="1600">
                <a:solidFill>
                  <a:srgbClr val="2C3E50"/>
                </a:solidFill>
                <a:latin typeface="Arial"/>
              </a:rPr>
              <a:t>• Model expected patterns using historical trends and seasonality</a:t>
            </a:r>
          </a:p>
          <a:p>
            <a:r>
              <a:rPr sz="1600">
                <a:solidFill>
                  <a:srgbClr val="2C3E50"/>
                </a:solidFill>
                <a:latin typeface="Arial"/>
              </a:rPr>
              <a:t>• Detect significant deviations from expected volumes</a:t>
            </a:r>
          </a:p>
          <a:p>
            <a:r>
              <a:rPr sz="1600">
                <a:solidFill>
                  <a:srgbClr val="2C3E50"/>
                </a:solidFill>
                <a:latin typeface="Arial"/>
              </a:rPr>
              <a:t>• Flag disrupted periods</a:t>
            </a:r>
          </a:p>
          <a:p>
            <a:r>
              <a:rPr sz="1600" b="1">
                <a:solidFill>
                  <a:srgbClr val="333333"/>
                </a:solidFill>
                <a:latin typeface="Arial"/>
              </a:rPr>
              <a:t>Part 2: Disruption quantification</a:t>
            </a:r>
          </a:p>
          <a:p>
            <a:r>
              <a:rPr sz="1600">
                <a:solidFill>
                  <a:srgbClr val="2C3E50"/>
                </a:solidFill>
                <a:latin typeface="Arial"/>
              </a:rPr>
              <a:t>• Use panel regression to estimate service volume changes</a:t>
            </a:r>
          </a:p>
          <a:p>
            <a:r>
              <a:rPr sz="1600">
                <a:solidFill>
                  <a:srgbClr val="2C3E50"/>
                </a:solidFill>
                <a:latin typeface="Arial"/>
              </a:rPr>
              <a:t>• Calculate shortfalls and surpluses in absolute numbers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Surplus and disruption analyses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20" cy="1920240"/>
        </p:xfrm>
        <a:graphic>
          <a:graphicData uri="http://schemas.openxmlformats.org/drawingml/2006/table">
            <a:tbl>
              <a:tblPr firstRow="1" bandRow="1">
                <a:tableStyleId>{5C22544A-7EE6-4342-B048-85BDC9FD1C3A}</a:tableStyleId>
              </a:tblPr>
              <a:tblGrid>
                <a:gridCol w="3749040"/>
                <a:gridCol w="7498080"/>
              </a:tblGrid>
              <a:tr h="320040">
                <a:tc>
                  <a:txBody>
                    <a:bodyPr wrap="square"/>
                    <a:lstStyle/>
                    <a:p>
                      <a:pPr>
                        <a:defRPr sz="1400" b="1">
                          <a:solidFill>
                            <a:srgbClr val="21568C"/>
                          </a:solidFill>
                          <a:latin typeface="Arial"/>
                        </a:defRPr>
                      </a:pPr>
                      <a:r>
                        <a:t>Disruption Type</a:t>
                      </a:r>
                    </a:p>
                  </a:txBody>
                  <a:tcPr>
                    <a:solidFill>
                      <a:srgbClr val="CAE6E9"/>
                    </a:solidFill>
                  </a:tcPr>
                </a:tc>
                <a:tc>
                  <a:txBody>
                    <a:bodyPr wrap="square"/>
                    <a:lstStyle/>
                    <a:p>
                      <a:pPr>
                        <a:defRPr sz="1400" b="1">
                          <a:solidFill>
                            <a:srgbClr val="21568C"/>
                          </a:solidFill>
                          <a:latin typeface="Arial"/>
                        </a:defRPr>
                      </a:pPr>
                      <a:r>
                        <a:t>Description</a:t>
                      </a:r>
                    </a:p>
                  </a:txBody>
                  <a:tcPr>
                    <a:solidFill>
                      <a:srgbClr val="CAE6E9"/>
                    </a:solidFill>
                  </a:tcPr>
                </a:tc>
              </a:tr>
              <a:tr h="320040">
                <a:tc>
                  <a:txBody>
                    <a:bodyPr wrap="square"/>
                    <a:lstStyle/>
                    <a:p>
                      <a:r>
                        <a:rPr sz="1400" b="1">
                          <a:solidFill>
                            <a:srgbClr val="2C3E50"/>
                          </a:solidFill>
                          <a:latin typeface="Arial"/>
                        </a:rPr>
                        <a:t>Sharp disruptions</a:t>
                      </a:r>
                    </a:p>
                  </a:txBody>
                  <a:tcPr/>
                </a:tc>
                <a:tc>
                  <a:txBody>
                    <a:bodyPr wrap="square"/>
                    <a:lstStyle/>
                    <a:p>
                      <a:r>
                        <a:rPr sz="1400">
                          <a:solidFill>
                            <a:srgbClr val="2C3E50"/>
                          </a:solidFill>
                          <a:latin typeface="Arial"/>
                        </a:rPr>
                        <a:t>Single months with extreme deviations</a:t>
                      </a:r>
                    </a:p>
                  </a:txBody>
                  <a:tcPr/>
                </a:tc>
              </a:tr>
              <a:tr h="320040">
                <a:tc>
                  <a:txBody>
                    <a:bodyPr wrap="square"/>
                    <a:lstStyle/>
                    <a:p>
                      <a:r>
                        <a:rPr sz="1400" b="1">
                          <a:solidFill>
                            <a:srgbClr val="2C3E50"/>
                          </a:solidFill>
                          <a:latin typeface="Arial"/>
                        </a:rPr>
                        <a:t>Sustained drops</a:t>
                      </a:r>
                    </a:p>
                  </a:txBody>
                  <a:tcPr/>
                </a:tc>
                <a:tc>
                  <a:txBody>
                    <a:bodyPr wrap="square"/>
                    <a:lstStyle/>
                    <a:p>
                      <a:r>
                        <a:rPr sz="1400">
                          <a:solidFill>
                            <a:srgbClr val="2C3E50"/>
                          </a:solidFill>
                          <a:latin typeface="Arial"/>
                        </a:rPr>
                        <a:t>Gradual declines over several months</a:t>
                      </a:r>
                    </a:p>
                  </a:txBody>
                  <a:tcPr/>
                </a:tc>
              </a:tr>
              <a:tr h="320040">
                <a:tc>
                  <a:txBody>
                    <a:bodyPr wrap="square"/>
                    <a:lstStyle/>
                    <a:p>
                      <a:r>
                        <a:rPr sz="1400" b="1">
                          <a:solidFill>
                            <a:srgbClr val="2C3E50"/>
                          </a:solidFill>
                          <a:latin typeface="Arial"/>
                        </a:rPr>
                        <a:t>Sustained dips</a:t>
                      </a:r>
                    </a:p>
                  </a:txBody>
                  <a:tcPr/>
                </a:tc>
                <a:tc>
                  <a:txBody>
                    <a:bodyPr wrap="square"/>
                    <a:lstStyle/>
                    <a:p>
                      <a:r>
                        <a:rPr sz="1400">
                          <a:solidFill>
                            <a:srgbClr val="2C3E50"/>
                          </a:solidFill>
                          <a:latin typeface="Arial"/>
                        </a:rPr>
                        <a:t>Periods consistently below expected levels</a:t>
                      </a:r>
                    </a:p>
                  </a:txBody>
                  <a:tcPr/>
                </a:tc>
              </a:tr>
              <a:tr h="320040">
                <a:tc>
                  <a:txBody>
                    <a:bodyPr wrap="square"/>
                    <a:lstStyle/>
                    <a:p>
                      <a:r>
                        <a:rPr sz="1400" b="1">
                          <a:solidFill>
                            <a:srgbClr val="2C3E50"/>
                          </a:solidFill>
                          <a:latin typeface="Arial"/>
                        </a:rPr>
                        <a:t>Sustained rises</a:t>
                      </a:r>
                    </a:p>
                  </a:txBody>
                  <a:tcPr/>
                </a:tc>
                <a:tc>
                  <a:txBody>
                    <a:bodyPr wrap="square"/>
                    <a:lstStyle/>
                    <a:p>
                      <a:r>
                        <a:rPr sz="1400">
                          <a:solidFill>
                            <a:srgbClr val="2C3E50"/>
                          </a:solidFill>
                          <a:latin typeface="Arial"/>
                        </a:rPr>
                        <a:t>Periods consistently above expected levels</a:t>
                      </a:r>
                    </a:p>
                  </a:txBody>
                  <a:tcPr/>
                </a:tc>
              </a:tr>
              <a:tr h="320040">
                <a:tc>
                  <a:txBody>
                    <a:bodyPr wrap="square"/>
                    <a:lstStyle/>
                    <a:p>
                      <a:r>
                        <a:rPr sz="1400" b="1">
                          <a:solidFill>
                            <a:srgbClr val="2C3E50"/>
                          </a:solidFill>
                          <a:latin typeface="Arial"/>
                        </a:rPr>
                        <a:t>Missing data patterns</a:t>
                      </a:r>
                    </a:p>
                  </a:txBody>
                  <a:tcPr/>
                </a:tc>
                <a:tc>
                  <a:txBody>
                    <a:bodyPr wrap="square"/>
                    <a:lstStyle/>
                    <a:p>
                      <a:r>
                        <a:rPr sz="1400">
                          <a:solidFill>
                            <a:srgbClr val="2C3E50"/>
                          </a:solidFill>
                          <a:latin typeface="Arial"/>
                        </a:rPr>
                        <a:t>Gaps in reporting that may signal problems</a:t>
                      </a:r>
                    </a:p>
                  </a:txBody>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594360"/>
            <a:ext cx="11277295" cy="1828800"/>
          </a:xfrm>
          <a:prstGeom prst="rect">
            <a:avLst/>
          </a:prstGeom>
          <a:noFill/>
        </p:spPr>
        <p:txBody>
          <a:bodyPr wrap="square">
            <a:spAutoFit/>
          </a:bodyPr>
          <a:lstStyle/>
          <a:p>
            <a:pPr>
              <a:defRPr sz="2200" b="1" i="0">
                <a:solidFill>
                  <a:srgbClr val="7A1F6E"/>
                </a:solidFill>
                <a:latin typeface="Arial"/>
              </a:defRPr>
            </a:pPr>
            <a:r>
              <a:t>Quantifying impact</a:t>
            </a:r>
          </a:p>
          <a:p>
            <a:r>
              <a:rPr sz="1600">
                <a:solidFill>
                  <a:srgbClr val="333333"/>
                </a:solidFill>
                <a:latin typeface="Arial"/>
              </a:rPr>
              <a:t>Disruption analysis quantifies shortfalls and surpluses by comparing:</a:t>
            </a:r>
          </a:p>
          <a:p>
            <a:r>
              <a:rPr sz="1600">
                <a:solidFill>
                  <a:srgbClr val="2C3E50"/>
                </a:solidFill>
                <a:latin typeface="Arial"/>
              </a:rPr>
              <a:t>• </a:t>
            </a:r>
            <a:r>
              <a:rPr sz="1600" b="1">
                <a:solidFill>
                  <a:srgbClr val="2C3E50"/>
                </a:solidFill>
                <a:latin typeface="Arial"/>
              </a:rPr>
              <a:t>Predicted volumes</a:t>
            </a:r>
            <a:r>
              <a:rPr sz="1600">
                <a:solidFill>
                  <a:srgbClr val="2C3E50"/>
                </a:solidFill>
                <a:latin typeface="Arial"/>
              </a:rPr>
              <a:t> (what would have happened without disruption)</a:t>
            </a:r>
          </a:p>
          <a:p>
            <a:r>
              <a:rPr sz="1600">
                <a:solidFill>
                  <a:srgbClr val="2C3E50"/>
                </a:solidFill>
                <a:latin typeface="Arial"/>
              </a:rPr>
              <a:t>• </a:t>
            </a:r>
            <a:r>
              <a:rPr sz="1600" b="1">
                <a:solidFill>
                  <a:srgbClr val="2C3E50"/>
                </a:solidFill>
                <a:latin typeface="Arial"/>
              </a:rPr>
              <a:t>Actual volumes</a:t>
            </a:r>
            <a:r>
              <a:rPr sz="1600">
                <a:solidFill>
                  <a:srgbClr val="2C3E50"/>
                </a:solidFill>
                <a:latin typeface="Arial"/>
              </a:rPr>
              <a:t> (what was observed)</a:t>
            </a:r>
          </a:p>
          <a:p>
            <a:r>
              <a:rPr sz="1600">
                <a:solidFill>
                  <a:srgbClr val="333333"/>
                </a:solidFill>
                <a:latin typeface="Arial"/>
              </a:rPr>
              <a:t>Results are reported in absolute numbers and percentages at each geographic level.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Service coverage estimates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a:solidFill>
                  <a:srgbClr val="333333"/>
                </a:solidFill>
                <a:latin typeface="Arial"/>
              </a:rPr>
              <a:t>The Coverage Estimates module (Module 4 in the FASTR analytics platform) estimates health service coverage by answering: </a:t>
            </a:r>
            <a:r>
              <a:rPr sz="1600" b="1">
                <a:solidFill>
                  <a:srgbClr val="333333"/>
                </a:solidFill>
                <a:latin typeface="Arial"/>
              </a:rPr>
              <a:t>"What percentage of the target population received this health service?"</a:t>
            </a:r>
          </a:p>
          <a:p>
            <a:r>
              <a:rPr sz="1600" b="1">
                <a:solidFill>
                  <a:srgbClr val="333333"/>
                </a:solidFill>
                <a:latin typeface="Arial"/>
              </a:rPr>
              <a:t>Three data sources integrated:</a:t>
            </a:r>
          </a:p>
          <a:p>
            <a:r>
              <a:rPr sz="1600">
                <a:solidFill>
                  <a:srgbClr val="2C3E50"/>
                </a:solidFill>
                <a:latin typeface="Arial"/>
              </a:rPr>
              <a:t>• Adjusted health service volumes from HMIS</a:t>
            </a:r>
          </a:p>
          <a:p>
            <a:r>
              <a:rPr sz="1600">
                <a:solidFill>
                  <a:srgbClr val="2C3E50"/>
                </a:solidFill>
                <a:latin typeface="Arial"/>
              </a:rPr>
              <a:t>• Population projections from United Nations</a:t>
            </a:r>
          </a:p>
          <a:p>
            <a:r>
              <a:rPr sz="1600">
                <a:solidFill>
                  <a:srgbClr val="2C3E50"/>
                </a:solidFill>
                <a:latin typeface="Arial"/>
              </a:rPr>
              <a:t>• Household survey data from MICS/DHS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594360"/>
            <a:ext cx="11277295" cy="2926079"/>
          </a:xfrm>
          <a:prstGeom prst="rect">
            <a:avLst/>
          </a:prstGeom>
          <a:noFill/>
        </p:spPr>
        <p:txBody>
          <a:bodyPr wrap="square">
            <a:spAutoFit/>
          </a:bodyPr>
          <a:lstStyle/>
          <a:p>
            <a:pPr>
              <a:defRPr sz="2200" b="1" i="0">
                <a:solidFill>
                  <a:srgbClr val="7A1F6E"/>
                </a:solidFill>
                <a:latin typeface="Arial"/>
              </a:defRPr>
            </a:pPr>
            <a:r>
              <a:t>Two-part process</a:t>
            </a:r>
          </a:p>
          <a:p>
            <a:r>
              <a:rPr sz="1600" b="1">
                <a:solidFill>
                  <a:srgbClr val="333333"/>
                </a:solidFill>
                <a:latin typeface="Arial"/>
              </a:rPr>
              <a:t>Part 1: Denominator calculation</a:t>
            </a:r>
          </a:p>
          <a:p>
            <a:r>
              <a:rPr sz="1600">
                <a:solidFill>
                  <a:srgbClr val="2C3E50"/>
                </a:solidFill>
                <a:latin typeface="Arial"/>
              </a:rPr>
              <a:t>• Calculate target populations using multiple methods (HMIS-based and population-based)</a:t>
            </a:r>
          </a:p>
          <a:p>
            <a:r>
              <a:rPr sz="1600">
                <a:solidFill>
                  <a:srgbClr val="2C3E50"/>
                </a:solidFill>
                <a:latin typeface="Arial"/>
              </a:rPr>
              <a:t>• Compare against survey benchmarks</a:t>
            </a:r>
          </a:p>
          <a:p>
            <a:r>
              <a:rPr sz="1600">
                <a:solidFill>
                  <a:srgbClr val="2C3E50"/>
                </a:solidFill>
                <a:latin typeface="Arial"/>
              </a:rPr>
              <a:t>• Automatically select best denominator for each indicator</a:t>
            </a:r>
          </a:p>
          <a:p>
            <a:r>
              <a:rPr sz="1600" b="1">
                <a:solidFill>
                  <a:srgbClr val="333333"/>
                </a:solidFill>
                <a:latin typeface="Arial"/>
              </a:rPr>
              <a:t>Part 2: Coverage estimation</a:t>
            </a:r>
          </a:p>
          <a:p>
            <a:r>
              <a:rPr sz="1600">
                <a:solidFill>
                  <a:srgbClr val="2C3E50"/>
                </a:solidFill>
                <a:latin typeface="Arial"/>
              </a:rPr>
              <a:t>• Override automatic selections based on programmatic knowledge</a:t>
            </a:r>
          </a:p>
          <a:p>
            <a:r>
              <a:rPr sz="1600">
                <a:solidFill>
                  <a:srgbClr val="2C3E50"/>
                </a:solidFill>
                <a:latin typeface="Arial"/>
              </a:rPr>
              <a:t>• Project survey estimates forward using HMIS trends</a:t>
            </a:r>
          </a:p>
          <a:p>
            <a:r>
              <a:rPr sz="1600">
                <a:solidFill>
                  <a:srgbClr val="2C3E50"/>
                </a:solidFill>
                <a:latin typeface="Arial"/>
              </a:rPr>
              <a:t>• Generate final coverage estimates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What is service coverage?</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Types of denominators for FASTR core analysis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1920240"/>
        </p:xfrm>
        <a:graphic>
          <a:graphicData uri="http://schemas.openxmlformats.org/drawingml/2006/table">
            <a:tbl>
              <a:tblPr firstRow="1" bandRow="1">
                <a:tableStyleId>{5C22544A-7EE6-4342-B048-85BDC9FD1C3A}</a:tableStyleId>
              </a:tblPr>
              <a:tblGrid>
                <a:gridCol w="2376152"/>
                <a:gridCol w="8870967"/>
              </a:tblGrid>
              <a:tr h="320040">
                <a:tc>
                  <a:txBody>
                    <a:bodyPr wrap="square"/>
                    <a:lstStyle/>
                    <a:p>
                      <a:pPr>
                        <a:defRPr sz="1400" b="1">
                          <a:solidFill>
                            <a:srgbClr val="21568C"/>
                          </a:solidFill>
                          <a:latin typeface="Arial"/>
                        </a:defRPr>
                      </a:pPr>
                      <a:r>
                        <a:t>Type of service</a:t>
                      </a:r>
                    </a:p>
                  </a:txBody>
                  <a:tcPr>
                    <a:solidFill>
                      <a:srgbClr val="CAE6E9"/>
                    </a:solidFill>
                  </a:tcPr>
                </a:tc>
                <a:tc>
                  <a:txBody>
                    <a:bodyPr wrap="square"/>
                    <a:lstStyle/>
                    <a:p>
                      <a:pPr>
                        <a:defRPr sz="1400" b="1">
                          <a:solidFill>
                            <a:srgbClr val="21568C"/>
                          </a:solidFill>
                          <a:latin typeface="Arial"/>
                        </a:defRPr>
                      </a:pPr>
                      <a:r>
                        <a:t>Denominator</a:t>
                      </a:r>
                    </a:p>
                  </a:txBody>
                  <a:tcPr>
                    <a:solidFill>
                      <a:srgbClr val="CAE6E9"/>
                    </a:solidFill>
                  </a:tcPr>
                </a:tc>
              </a:tr>
              <a:tr h="320040">
                <a:tc>
                  <a:txBody>
                    <a:bodyPr wrap="square"/>
                    <a:lstStyle/>
                    <a:p>
                      <a:r>
                        <a:rPr sz="1400">
                          <a:solidFill>
                            <a:srgbClr val="2C3E50"/>
                          </a:solidFill>
                          <a:latin typeface="Arial"/>
                        </a:rPr>
                        <a:t>ANC</a:t>
                      </a:r>
                    </a:p>
                  </a:txBody>
                  <a:tcPr/>
                </a:tc>
                <a:tc>
                  <a:txBody>
                    <a:bodyPr wrap="square"/>
                    <a:lstStyle/>
                    <a:p>
                      <a:r>
                        <a:rPr sz="1400">
                          <a:solidFill>
                            <a:srgbClr val="2C3E50"/>
                          </a:solidFill>
                          <a:latin typeface="Arial"/>
                        </a:rPr>
                        <a:t>Pregnancies</a:t>
                      </a:r>
                    </a:p>
                  </a:txBody>
                  <a:tcPr/>
                </a:tc>
              </a:tr>
              <a:tr h="320040">
                <a:tc>
                  <a:txBody>
                    <a:bodyPr wrap="square"/>
                    <a:lstStyle/>
                    <a:p>
                      <a:r>
                        <a:rPr sz="1400">
                          <a:solidFill>
                            <a:srgbClr val="2C3E50"/>
                          </a:solidFill>
                          <a:latin typeface="Arial"/>
                        </a:rPr>
                        <a:t>Delivery</a:t>
                      </a:r>
                    </a:p>
                  </a:txBody>
                  <a:tcPr/>
                </a:tc>
                <a:tc>
                  <a:txBody>
                    <a:bodyPr wrap="square"/>
                    <a:lstStyle/>
                    <a:p>
                      <a:r>
                        <a:rPr sz="1400">
                          <a:solidFill>
                            <a:srgbClr val="2C3E50"/>
                          </a:solidFill>
                          <a:latin typeface="Arial"/>
                        </a:rPr>
                        <a:t>Live births</a:t>
                      </a:r>
                    </a:p>
                  </a:txBody>
                  <a:tcPr/>
                </a:tc>
              </a:tr>
              <a:tr h="320040">
                <a:tc>
                  <a:txBody>
                    <a:bodyPr wrap="square"/>
                    <a:lstStyle/>
                    <a:p>
                      <a:r>
                        <a:rPr sz="1400">
                          <a:solidFill>
                            <a:srgbClr val="2C3E50"/>
                          </a:solidFill>
                          <a:latin typeface="Arial"/>
                        </a:rPr>
                        <a:t>BCG</a:t>
                      </a:r>
                    </a:p>
                  </a:txBody>
                  <a:tcPr/>
                </a:tc>
                <a:tc>
                  <a:txBody>
                    <a:bodyPr wrap="square"/>
                    <a:lstStyle/>
                    <a:p>
                      <a:r>
                        <a:rPr sz="1400">
                          <a:solidFill>
                            <a:srgbClr val="2C3E50"/>
                          </a:solidFill>
                          <a:latin typeface="Arial"/>
                        </a:rPr>
                        <a:t>Live births</a:t>
                      </a:r>
                    </a:p>
                  </a:txBody>
                  <a:tcPr/>
                </a:tc>
              </a:tr>
              <a:tr h="320040">
                <a:tc>
                  <a:txBody>
                    <a:bodyPr wrap="square"/>
                    <a:lstStyle/>
                    <a:p>
                      <a:r>
                        <a:rPr sz="1400">
                          <a:solidFill>
                            <a:srgbClr val="2C3E50"/>
                          </a:solidFill>
                          <a:latin typeface="Arial"/>
                        </a:rPr>
                        <a:t>Penta1</a:t>
                      </a:r>
                    </a:p>
                  </a:txBody>
                  <a:tcPr/>
                </a:tc>
                <a:tc>
                  <a:txBody>
                    <a:bodyPr wrap="square"/>
                    <a:lstStyle/>
                    <a:p>
                      <a:r>
                        <a:rPr sz="1400">
                          <a:solidFill>
                            <a:srgbClr val="2C3E50"/>
                          </a:solidFill>
                          <a:latin typeface="Arial"/>
                        </a:rPr>
                        <a:t>Infants eligible for Penta (infants surviving 1+ months)</a:t>
                      </a:r>
                    </a:p>
                  </a:txBody>
                  <a:tcPr/>
                </a:tc>
              </a:tr>
              <a:tr h="320040">
                <a:tc>
                  <a:txBody>
                    <a:bodyPr wrap="square"/>
                    <a:lstStyle/>
                    <a:p>
                      <a:r>
                        <a:rPr sz="1400">
                          <a:solidFill>
                            <a:srgbClr val="2C3E50"/>
                          </a:solidFill>
                          <a:latin typeface="Arial"/>
                        </a:rPr>
                        <a:t>Penta3</a:t>
                      </a:r>
                    </a:p>
                  </a:txBody>
                  <a:tcPr/>
                </a:tc>
                <a:tc>
                  <a:txBody>
                    <a:bodyPr wrap="square"/>
                    <a:lstStyle/>
                    <a:p>
                      <a:r>
                        <a:rPr sz="1400">
                          <a:solidFill>
                            <a:srgbClr val="2C3E50"/>
                          </a:solidFill>
                          <a:latin typeface="Arial"/>
                        </a:rPr>
                        <a:t>Infants eligible for Penta (infants surviving 1+ months)</a:t>
                      </a:r>
                    </a:p>
                  </a:txBody>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Expected relationships which help with estimating denominators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Estimating denominators from ANC-1</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8" cy="2240280"/>
        </p:xfrm>
        <a:graphic>
          <a:graphicData uri="http://schemas.openxmlformats.org/drawingml/2006/table">
            <a:tbl>
              <a:tblPr firstRow="1" bandRow="1">
                <a:tableStyleId>{5C22544A-7EE6-4342-B048-85BDC9FD1C3A}</a:tableStyleId>
              </a:tblPr>
              <a:tblGrid>
                <a:gridCol w="4089861"/>
                <a:gridCol w="5367943"/>
                <a:gridCol w="1789314"/>
              </a:tblGrid>
              <a:tr h="320040">
                <a:tc>
                  <a:txBody>
                    <a:bodyPr wrap="square"/>
                    <a:lstStyle/>
                    <a:p>
                      <a:pPr>
                        <a:defRPr sz="1400" b="1">
                          <a:solidFill>
                            <a:srgbClr val="21568C"/>
                          </a:solidFill>
                          <a:latin typeface="Arial"/>
                        </a:defRPr>
                      </a:pPr>
                      <a:r>
                        <a:t>Step</a:t>
                      </a:r>
                    </a:p>
                  </a:txBody>
                  <a:tcPr>
                    <a:solidFill>
                      <a:srgbClr val="CAE6E9"/>
                    </a:solidFill>
                  </a:tcPr>
                </a:tc>
                <a:tc>
                  <a:txBody>
                    <a:bodyPr wrap="square"/>
                    <a:lstStyle/>
                    <a:p>
                      <a:pPr>
                        <a:defRPr sz="1400" b="1">
                          <a:solidFill>
                            <a:srgbClr val="21568C"/>
                          </a:solidFill>
                          <a:latin typeface="Arial"/>
                        </a:defRPr>
                      </a:pPr>
                      <a:r>
                        <a:t>Calculation</a:t>
                      </a:r>
                    </a:p>
                  </a:txBody>
                  <a:tcPr>
                    <a:solidFill>
                      <a:srgbClr val="CAE6E9"/>
                    </a:solidFill>
                  </a:tcPr>
                </a:tc>
                <a:tc>
                  <a:txBody>
                    <a:bodyPr wrap="square"/>
                    <a:lstStyle/>
                    <a:p>
                      <a:pPr>
                        <a:defRPr sz="1400" b="1">
                          <a:solidFill>
                            <a:srgbClr val="21568C"/>
                          </a:solidFill>
                          <a:latin typeface="Arial"/>
                        </a:defRPr>
                      </a:pPr>
                      <a:r>
                        <a:t>Result</a:t>
                      </a:r>
                    </a:p>
                  </a:txBody>
                  <a:tcPr>
                    <a:solidFill>
                      <a:srgbClr val="CAE6E9"/>
                    </a:solidFill>
                  </a:tcPr>
                </a:tc>
              </a:tr>
              <a:tr h="320040">
                <a:tc>
                  <a:txBody>
                    <a:bodyPr wrap="square"/>
                    <a:lstStyle/>
                    <a:p>
                      <a:r>
                        <a:rPr sz="1400">
                          <a:solidFill>
                            <a:srgbClr val="2C3E50"/>
                          </a:solidFill>
                          <a:latin typeface="Arial"/>
                        </a:rPr>
                        <a:t>Pregnancies</a:t>
                      </a:r>
                    </a:p>
                  </a:txBody>
                  <a:tcPr/>
                </a:tc>
                <a:tc>
                  <a:txBody>
                    <a:bodyPr wrap="square"/>
                    <a:lstStyle/>
                    <a:p>
                      <a:r>
                        <a:rPr sz="1400">
                          <a:solidFill>
                            <a:srgbClr val="2C3E50"/>
                          </a:solidFill>
                          <a:latin typeface="Arial"/>
                        </a:rPr>
                        <a:t>100,000 ÷ 0.95</a:t>
                      </a:r>
                    </a:p>
                  </a:txBody>
                  <a:tcPr/>
                </a:tc>
                <a:tc>
                  <a:txBody>
                    <a:bodyPr wrap="square"/>
                    <a:lstStyle/>
                    <a:p>
                      <a:r>
                        <a:rPr sz="1400">
                          <a:solidFill>
                            <a:srgbClr val="2C3E50"/>
                          </a:solidFill>
                          <a:latin typeface="Arial"/>
                        </a:rPr>
                        <a:t>105,263</a:t>
                      </a:r>
                    </a:p>
                  </a:txBody>
                  <a:tcPr/>
                </a:tc>
              </a:tr>
              <a:tr h="320040">
                <a:tc>
                  <a:txBody>
                    <a:bodyPr wrap="square"/>
                    <a:lstStyle/>
                    <a:p>
                      <a:r>
                        <a:rPr sz="1400">
                          <a:solidFill>
                            <a:srgbClr val="2C3E50"/>
                          </a:solidFill>
                          <a:latin typeface="Arial"/>
                        </a:rPr>
                        <a:t>Deliveries</a:t>
                      </a:r>
                    </a:p>
                  </a:txBody>
                  <a:tcPr/>
                </a:tc>
                <a:tc>
                  <a:txBody>
                    <a:bodyPr wrap="square"/>
                    <a:lstStyle/>
                    <a:p>
                      <a:r>
                        <a:rPr sz="1400">
                          <a:solidFill>
                            <a:srgbClr val="2C3E50"/>
                          </a:solidFill>
                          <a:latin typeface="Arial"/>
                        </a:rPr>
                        <a:t>105,263 × (1 - 0.03)</a:t>
                      </a:r>
                    </a:p>
                  </a:txBody>
                  <a:tcPr/>
                </a:tc>
                <a:tc>
                  <a:txBody>
                    <a:bodyPr wrap="square"/>
                    <a:lstStyle/>
                    <a:p>
                      <a:r>
                        <a:rPr sz="1400">
                          <a:solidFill>
                            <a:srgbClr val="2C3E50"/>
                          </a:solidFill>
                          <a:latin typeface="Arial"/>
                        </a:rPr>
                        <a:t>102,105</a:t>
                      </a:r>
                    </a:p>
                  </a:txBody>
                  <a:tcPr/>
                </a:tc>
              </a:tr>
              <a:tr h="320040">
                <a:tc>
                  <a:txBody>
                    <a:bodyPr wrap="square"/>
                    <a:lstStyle/>
                    <a:p>
                      <a:r>
                        <a:rPr sz="1400">
                          <a:solidFill>
                            <a:srgbClr val="2C3E50"/>
                          </a:solidFill>
                          <a:latin typeface="Arial"/>
                        </a:rPr>
                        <a:t>Births</a:t>
                      </a:r>
                    </a:p>
                  </a:txBody>
                  <a:tcPr/>
                </a:tc>
                <a:tc>
                  <a:txBody>
                    <a:bodyPr wrap="square"/>
                    <a:lstStyle/>
                    <a:p>
                      <a:r>
                        <a:rPr sz="1400">
                          <a:solidFill>
                            <a:srgbClr val="2C3E50"/>
                          </a:solidFill>
                          <a:latin typeface="Arial"/>
                        </a:rPr>
                        <a:t>102,105 × (1 + 0.015)</a:t>
                      </a:r>
                    </a:p>
                  </a:txBody>
                  <a:tcPr/>
                </a:tc>
                <a:tc>
                  <a:txBody>
                    <a:bodyPr wrap="square"/>
                    <a:lstStyle/>
                    <a:p>
                      <a:r>
                        <a:rPr sz="1400">
                          <a:solidFill>
                            <a:srgbClr val="2C3E50"/>
                          </a:solidFill>
                          <a:latin typeface="Arial"/>
                        </a:rPr>
                        <a:t>103,637</a:t>
                      </a:r>
                    </a:p>
                  </a:txBody>
                  <a:tcPr/>
                </a:tc>
              </a:tr>
              <a:tr h="320040">
                <a:tc>
                  <a:txBody>
                    <a:bodyPr wrap="square"/>
                    <a:lstStyle/>
                    <a:p>
                      <a:r>
                        <a:rPr sz="1400">
                          <a:solidFill>
                            <a:srgbClr val="2C3E50"/>
                          </a:solidFill>
                          <a:latin typeface="Arial"/>
                        </a:rPr>
                        <a:t>Live births</a:t>
                      </a:r>
                    </a:p>
                  </a:txBody>
                  <a:tcPr/>
                </a:tc>
                <a:tc>
                  <a:txBody>
                    <a:bodyPr wrap="square"/>
                    <a:lstStyle/>
                    <a:p>
                      <a:r>
                        <a:rPr sz="1400">
                          <a:solidFill>
                            <a:srgbClr val="2C3E50"/>
                          </a:solidFill>
                          <a:latin typeface="Arial"/>
                        </a:rPr>
                        <a:t>103,637 × (1 - 0.02)</a:t>
                      </a:r>
                    </a:p>
                  </a:txBody>
                  <a:tcPr/>
                </a:tc>
                <a:tc>
                  <a:txBody>
                    <a:bodyPr wrap="square"/>
                    <a:lstStyle/>
                    <a:p>
                      <a:r>
                        <a:rPr sz="1400">
                          <a:solidFill>
                            <a:srgbClr val="2C3E50"/>
                          </a:solidFill>
                          <a:latin typeface="Arial"/>
                        </a:rPr>
                        <a:t>101,564</a:t>
                      </a:r>
                    </a:p>
                  </a:txBody>
                  <a:tcPr/>
                </a:tc>
              </a:tr>
              <a:tr h="320040">
                <a:tc>
                  <a:txBody>
                    <a:bodyPr wrap="square"/>
                    <a:lstStyle/>
                    <a:p>
                      <a:r>
                        <a:rPr sz="1400">
                          <a:solidFill>
                            <a:srgbClr val="2C3E50"/>
                          </a:solidFill>
                          <a:latin typeface="Arial"/>
                        </a:rPr>
                        <a:t>DPT-eligible</a:t>
                      </a:r>
                    </a:p>
                  </a:txBody>
                  <a:tcPr/>
                </a:tc>
                <a:tc>
                  <a:txBody>
                    <a:bodyPr wrap="square"/>
                    <a:lstStyle/>
                    <a:p>
                      <a:r>
                        <a:rPr sz="1400">
                          <a:solidFill>
                            <a:srgbClr val="2C3E50"/>
                          </a:solidFill>
                          <a:latin typeface="Arial"/>
                        </a:rPr>
                        <a:t>101,564 × (1 - 0.03)</a:t>
                      </a:r>
                    </a:p>
                  </a:txBody>
                  <a:tcPr/>
                </a:tc>
                <a:tc>
                  <a:txBody>
                    <a:bodyPr wrap="square"/>
                    <a:lstStyle/>
                    <a:p>
                      <a:r>
                        <a:rPr sz="1400">
                          <a:solidFill>
                            <a:srgbClr val="2C3E50"/>
                          </a:solidFill>
                          <a:latin typeface="Arial"/>
                        </a:rPr>
                        <a:t>98,517</a:t>
                      </a:r>
                    </a:p>
                  </a:txBody>
                  <a:tcPr/>
                </a:tc>
              </a:tr>
              <a:tr h="320040">
                <a:tc>
                  <a:txBody>
                    <a:bodyPr wrap="square"/>
                    <a:lstStyle/>
                    <a:p>
                      <a:r>
                        <a:rPr sz="1400">
                          <a:solidFill>
                            <a:srgbClr val="2C3E50"/>
                          </a:solidFill>
                          <a:latin typeface="Arial"/>
                        </a:rPr>
                        <a:t>Measles-eligible</a:t>
                      </a:r>
                    </a:p>
                  </a:txBody>
                  <a:tcPr/>
                </a:tc>
                <a:tc>
                  <a:txBody>
                    <a:bodyPr wrap="square"/>
                    <a:lstStyle/>
                    <a:p>
                      <a:r>
                        <a:rPr sz="1400">
                          <a:solidFill>
                            <a:srgbClr val="2C3E50"/>
                          </a:solidFill>
                          <a:latin typeface="Arial"/>
                        </a:rPr>
                        <a:t>98,517 × (1 - 0.02)</a:t>
                      </a:r>
                    </a:p>
                  </a:txBody>
                  <a:tcPr/>
                </a:tc>
                <a:tc>
                  <a:txBody>
                    <a:bodyPr wrap="square"/>
                    <a:lstStyle/>
                    <a:p>
                      <a:r>
                        <a:rPr sz="1400">
                          <a:solidFill>
                            <a:srgbClr val="2C3E50"/>
                          </a:solidFill>
                          <a:latin typeface="Arial"/>
                        </a:rPr>
                        <a:t>96,547</a:t>
                      </a:r>
                    </a:p>
                  </a:txBody>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6: Creating a project</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Activity: Creating a Project</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103120"/>
          </a:xfrm>
          <a:prstGeom prst="rect">
            <a:avLst/>
          </a:prstGeom>
          <a:noFill/>
        </p:spPr>
        <p:txBody>
          <a:bodyPr wrap="square">
            <a:spAutoFit/>
          </a:bodyPr>
          <a:lstStyle/>
          <a:p>
            <a:r>
              <a:rPr sz="1600" b="1">
                <a:solidFill>
                  <a:srgbClr val="333333"/>
                </a:solidFill>
                <a:latin typeface="Arial"/>
              </a:rPr>
              <a:t>In this hands-on session, we will:</a:t>
            </a:r>
          </a:p>
          <a:p>
            <a:r>
              <a:rPr sz="1600">
                <a:solidFill>
                  <a:srgbClr val="2C3E50"/>
                </a:solidFill>
                <a:latin typeface="Arial"/>
              </a:rPr>
              <a:t>• Set up a new project</a:t>
            </a:r>
          </a:p>
          <a:p>
            <a:r>
              <a:rPr sz="1600">
                <a:solidFill>
                  <a:srgbClr val="2C3E50"/>
                </a:solidFill>
                <a:latin typeface="Arial"/>
              </a:rPr>
              <a:t>• Configure project settings</a:t>
            </a:r>
          </a:p>
          <a:p>
            <a:r>
              <a:rPr sz="1600">
                <a:solidFill>
                  <a:srgbClr val="2C3E50"/>
                </a:solidFill>
                <a:latin typeface="Arial"/>
              </a:rPr>
              <a:t>• Select indicators and time periods</a:t>
            </a:r>
          </a:p>
          <a:p>
            <a:r>
              <a:rPr sz="1600">
                <a:solidFill>
                  <a:srgbClr val="2C3E50"/>
                </a:solidFill>
                <a:latin typeface="Arial"/>
              </a:rPr>
              <a:t>• Apply best practices for project organization</a:t>
            </a:r>
          </a:p>
          <a:p>
            <a:r>
              <a:rPr sz="1600" i="1">
                <a:solidFill>
                  <a:srgbClr val="333333"/>
                </a:solidFill>
                <a:latin typeface="Arial"/>
              </a:rPr>
              <a:t>Participants will create their first project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7: Creating visualizations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Activity: Creating Visualizations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b="1">
                <a:solidFill>
                  <a:srgbClr val="333333"/>
                </a:solidFill>
                <a:latin typeface="Arial"/>
              </a:rPr>
              <a:t>In this hands-on session, we will:</a:t>
            </a:r>
          </a:p>
          <a:p>
            <a:r>
              <a:rPr sz="1600">
                <a:solidFill>
                  <a:srgbClr val="2C3E50"/>
                </a:solidFill>
                <a:latin typeface="Arial"/>
              </a:rPr>
              <a:t>• Explore available chart types</a:t>
            </a:r>
          </a:p>
          <a:p>
            <a:r>
              <a:rPr sz="1600">
                <a:solidFill>
                  <a:srgbClr val="2C3E50"/>
                </a:solidFill>
                <a:latin typeface="Arial"/>
              </a:rPr>
              <a:t>• Create and customize visualizations</a:t>
            </a:r>
          </a:p>
          <a:p>
            <a:r>
              <a:rPr sz="1600">
                <a:solidFill>
                  <a:srgbClr val="2C3E50"/>
                </a:solidFill>
                <a:latin typeface="Arial"/>
              </a:rPr>
              <a:t>• Export charts for use in reports</a:t>
            </a:r>
          </a:p>
          <a:p>
            <a:r>
              <a:rPr sz="1600" i="1">
                <a:solidFill>
                  <a:srgbClr val="333333"/>
                </a:solidFill>
                <a:latin typeface="Arial"/>
              </a:rPr>
              <a:t>Participants will build visualizations from their analysis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8: Creating reports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Activity: Creating Reports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b="1">
                <a:solidFill>
                  <a:srgbClr val="333333"/>
                </a:solidFill>
                <a:latin typeface="Arial"/>
              </a:rPr>
              <a:t>In this hands-on session, we will:</a:t>
            </a:r>
          </a:p>
          <a:p>
            <a:r>
              <a:rPr sz="1600">
                <a:solidFill>
                  <a:srgbClr val="2C3E50"/>
                </a:solidFill>
                <a:latin typeface="Arial"/>
              </a:rPr>
              <a:t>• Use report templates</a:t>
            </a:r>
          </a:p>
          <a:p>
            <a:r>
              <a:rPr sz="1600">
                <a:solidFill>
                  <a:srgbClr val="2C3E50"/>
                </a:solidFill>
                <a:latin typeface="Arial"/>
              </a:rPr>
              <a:t>• Generate automated reports</a:t>
            </a:r>
          </a:p>
          <a:p>
            <a:r>
              <a:rPr sz="1600">
                <a:solidFill>
                  <a:srgbClr val="2C3E50"/>
                </a:solidFill>
                <a:latin typeface="Arial"/>
              </a:rPr>
              <a:t>• Customize report content and layout</a:t>
            </a:r>
          </a:p>
          <a:p>
            <a:r>
              <a:rPr sz="1600" i="1">
                <a:solidFill>
                  <a:srgbClr val="333333"/>
                </a:solidFill>
                <a:latin typeface="Arial"/>
              </a:rPr>
              <a:t>Participants will create their first quarterly report draft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2 Key Messages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Today we covered:</a:t>
            </a:r>
          </a:p>
          <a:p>
            <a:r>
              <a:rPr sz="1600">
                <a:solidFill>
                  <a:srgbClr val="2C3E50"/>
                </a:solidFill>
                <a:latin typeface="Arial"/>
              </a:rPr>
              <a:t>• Overview of FASTR methods for data quality and analysis</a:t>
            </a:r>
          </a:p>
          <a:p>
            <a:r>
              <a:rPr sz="1600">
                <a:solidFill>
                  <a:srgbClr val="2C3E50"/>
                </a:solidFill>
                <a:latin typeface="Arial"/>
              </a:rPr>
              <a:t>• Creating and configuring projects</a:t>
            </a:r>
          </a:p>
          <a:p>
            <a:r>
              <a:rPr sz="1600">
                <a:solidFill>
                  <a:srgbClr val="2C3E50"/>
                </a:solidFill>
                <a:latin typeface="Arial"/>
              </a:rPr>
              <a:t>• Building visualizations from data</a:t>
            </a:r>
          </a:p>
          <a:p>
            <a:r>
              <a:rPr sz="1600">
                <a:solidFill>
                  <a:srgbClr val="2C3E50"/>
                </a:solidFill>
                <a:latin typeface="Arial"/>
              </a:rPr>
              <a:t>• Generating reports in the platform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Looking Ahead to Day 3</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Tomorrow we will focus on:</a:t>
            </a:r>
          </a:p>
          <a:p>
            <a:r>
              <a:rPr sz="1600">
                <a:solidFill>
                  <a:srgbClr val="2C3E50"/>
                </a:solidFill>
                <a:latin typeface="Arial"/>
              </a:rPr>
              <a:t>• Interpreting visualizations for decision-making</a:t>
            </a:r>
          </a:p>
          <a:p>
            <a:r>
              <a:rPr sz="1600">
                <a:solidFill>
                  <a:srgbClr val="2C3E50"/>
                </a:solidFill>
                <a:latin typeface="Arial"/>
              </a:rPr>
              <a:t>• Creating the Q4 2025 quarterly report</a:t>
            </a:r>
          </a:p>
          <a:p>
            <a:r>
              <a:rPr sz="1600">
                <a:solidFill>
                  <a:srgbClr val="2C3E50"/>
                </a:solidFill>
                <a:latin typeface="Arial"/>
              </a:rPr>
              <a:t>• Presenting findings effectively</a:t>
            </a:r>
          </a:p>
          <a:p>
            <a:r>
              <a:rPr sz="1600">
                <a:solidFill>
                  <a:srgbClr val="2C3E50"/>
                </a:solidFill>
                <a:latin typeface="Arial"/>
              </a:rPr>
              <a:t>• Action planning for continued use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3</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Recap</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On Day 2, we covered:</a:t>
            </a:r>
          </a:p>
          <a:p>
            <a:r>
              <a:rPr sz="1600">
                <a:solidFill>
                  <a:srgbClr val="2C3E50"/>
                </a:solidFill>
                <a:latin typeface="Arial"/>
              </a:rPr>
              <a:t>• FASTR methods for data quality assessment and adjustment</a:t>
            </a:r>
          </a:p>
          <a:p>
            <a:r>
              <a:rPr sz="1600">
                <a:solidFill>
                  <a:srgbClr val="2C3E50"/>
                </a:solidFill>
                <a:latin typeface="Arial"/>
              </a:rPr>
              <a:t>• Creating and configuring projects in the platform</a:t>
            </a:r>
          </a:p>
          <a:p>
            <a:r>
              <a:rPr sz="1600">
                <a:solidFill>
                  <a:srgbClr val="2C3E50"/>
                </a:solidFill>
                <a:latin typeface="Arial"/>
              </a:rPr>
              <a:t>• Building visualizations from Zambia data</a:t>
            </a:r>
          </a:p>
          <a:p>
            <a:r>
              <a:rPr sz="1600">
                <a:solidFill>
                  <a:srgbClr val="2C3E50"/>
                </a:solidFill>
                <a:latin typeface="Arial"/>
              </a:rPr>
              <a:t>• Generating reports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3 Focus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Today we move from analysis to action:</a:t>
            </a:r>
          </a:p>
          <a:p>
            <a:r>
              <a:rPr sz="1600">
                <a:solidFill>
                  <a:srgbClr val="2C3E50"/>
                </a:solidFill>
                <a:latin typeface="Arial"/>
              </a:rPr>
              <a:t>• Deep dive into interpretation of results</a:t>
            </a:r>
          </a:p>
          <a:p>
            <a:r>
              <a:rPr sz="1600">
                <a:solidFill>
                  <a:srgbClr val="2C3E50"/>
                </a:solidFill>
                <a:latin typeface="Arial"/>
              </a:rPr>
              <a:t>• Create the Q4 2025 quarterly report</a:t>
            </a:r>
          </a:p>
          <a:p>
            <a:r>
              <a:rPr sz="1600">
                <a:solidFill>
                  <a:srgbClr val="2C3E50"/>
                </a:solidFill>
                <a:latin typeface="Arial"/>
              </a:rPr>
              <a:t>• Present findings to the group</a:t>
            </a:r>
          </a:p>
          <a:p>
            <a:r>
              <a:rPr sz="1600">
                <a:solidFill>
                  <a:srgbClr val="2C3E50"/>
                </a:solidFill>
                <a:latin typeface="Arial"/>
              </a:rPr>
              <a:t>• Develop action plans for continued work</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8: Interpretation of visualizations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Analytical thinking &amp; interpretation</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103120"/>
          </a:xfrm>
          <a:prstGeom prst="rect">
            <a:avLst/>
          </a:prstGeom>
          <a:noFill/>
        </p:spPr>
        <p:txBody>
          <a:bodyPr wrap="square">
            <a:spAutoFit/>
          </a:bodyPr>
          <a:lstStyle/>
          <a:p>
            <a:r>
              <a:rPr sz="1600" i="1">
                <a:solidFill>
                  <a:srgbClr val="333333"/>
                </a:solidFill>
                <a:latin typeface="Arial"/>
              </a:rPr>
              <a:t>Content to be developed</a:t>
            </a:r>
          </a:p>
          <a:p>
            <a:r>
              <a:rPr sz="1600">
                <a:solidFill>
                  <a:srgbClr val="333333"/>
                </a:solidFill>
                <a:latin typeface="Arial"/>
              </a:rPr>
              <a:t>This section will cover:</a:t>
            </a:r>
          </a:p>
          <a:p>
            <a:r>
              <a:rPr sz="1600">
                <a:solidFill>
                  <a:srgbClr val="2C3E50"/>
                </a:solidFill>
                <a:latin typeface="Arial"/>
              </a:rPr>
              <a:t>• Frameworks for interpreting FASTR outputs</a:t>
            </a:r>
          </a:p>
          <a:p>
            <a:r>
              <a:rPr sz="1600">
                <a:solidFill>
                  <a:srgbClr val="2C3E50"/>
                </a:solidFill>
                <a:latin typeface="Arial"/>
              </a:rPr>
              <a:t>• Connecting data patterns to programmatic meaning</a:t>
            </a:r>
          </a:p>
          <a:p>
            <a:r>
              <a:rPr sz="1600">
                <a:solidFill>
                  <a:srgbClr val="2C3E50"/>
                </a:solidFill>
                <a:latin typeface="Arial"/>
              </a:rPr>
              <a:t>• Common interpretation pitfalls to avoid</a:t>
            </a:r>
          </a:p>
          <a:p>
            <a:r>
              <a:rPr sz="1600">
                <a:solidFill>
                  <a:srgbClr val="2C3E50"/>
                </a:solidFill>
                <a:latin typeface="Arial"/>
              </a:rPr>
              <a:t>• Building analytical thinking skills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9: Creating a Q4 2025 report</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Generating quarterly reporting products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103120"/>
          </a:xfrm>
          <a:prstGeom prst="rect">
            <a:avLst/>
          </a:prstGeom>
          <a:noFill/>
        </p:spPr>
        <p:txBody>
          <a:bodyPr wrap="square">
            <a:spAutoFit/>
          </a:bodyPr>
          <a:lstStyle/>
          <a:p>
            <a:r>
              <a:rPr sz="1600" i="1">
                <a:solidFill>
                  <a:srgbClr val="333333"/>
                </a:solidFill>
                <a:latin typeface="Arial"/>
              </a:rPr>
              <a:t>Content to be developed</a:t>
            </a:r>
          </a:p>
          <a:p>
            <a:r>
              <a:rPr sz="1600">
                <a:solidFill>
                  <a:srgbClr val="333333"/>
                </a:solidFill>
                <a:latin typeface="Arial"/>
              </a:rPr>
              <a:t>This section will cover:</a:t>
            </a:r>
          </a:p>
          <a:p>
            <a:r>
              <a:rPr sz="1600">
                <a:solidFill>
                  <a:srgbClr val="2C3E50"/>
                </a:solidFill>
                <a:latin typeface="Arial"/>
              </a:rPr>
              <a:t>• Quarterly reporting workflow</a:t>
            </a:r>
          </a:p>
          <a:p>
            <a:r>
              <a:rPr sz="1600">
                <a:solidFill>
                  <a:srgbClr val="2C3E50"/>
                </a:solidFill>
                <a:latin typeface="Arial"/>
              </a:rPr>
              <a:t>• Using the FASTR platform for automated reports</a:t>
            </a:r>
          </a:p>
          <a:p>
            <a:r>
              <a:rPr sz="1600">
                <a:solidFill>
                  <a:srgbClr val="2C3E50"/>
                </a:solidFill>
                <a:latin typeface="Arial"/>
              </a:rPr>
              <a:t>• Quality assurance for reports</a:t>
            </a:r>
          </a:p>
          <a:p>
            <a:r>
              <a:rPr sz="1600">
                <a:solidFill>
                  <a:srgbClr val="2C3E50"/>
                </a:solidFill>
                <a:latin typeface="Arial"/>
              </a:rPr>
              <a:t>• Distribution and feedback mechanisms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10: Presenting reports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End user mapping</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a:solidFill>
                  <a:srgbClr val="333333"/>
                </a:solidFill>
                <a:latin typeface="Arial"/>
              </a:rPr>
              <a:t>End user mapping helps ensure that our outputs will meet the real needs of our end users.</a:t>
            </a:r>
          </a:p>
          <a:p>
            <a:pPr>
              <a:defRPr sz="2200" b="1" i="0">
                <a:solidFill>
                  <a:srgbClr val="7A1F6E"/>
                </a:solidFill>
                <a:latin typeface="Arial"/>
              </a:defRPr>
            </a:pPr>
            <a:r>
              <a:t>Key questions</a:t>
            </a:r>
          </a:p>
          <a:p>
            <a:r>
              <a:rPr sz="1600">
                <a:solidFill>
                  <a:srgbClr val="2C3E50"/>
                </a:solidFill>
                <a:latin typeface="Arial"/>
              </a:rPr>
              <a:t>• </a:t>
            </a:r>
            <a:r>
              <a:rPr sz="1600" b="1">
                <a:solidFill>
                  <a:srgbClr val="2C3E50"/>
                </a:solidFill>
                <a:latin typeface="Arial"/>
              </a:rPr>
              <a:t>Who is my end user?</a:t>
            </a:r>
          </a:p>
          <a:p>
            <a:r>
              <a:rPr sz="1600">
                <a:solidFill>
                  <a:srgbClr val="2C3E50"/>
                </a:solidFill>
                <a:latin typeface="Arial"/>
              </a:rPr>
              <a:t>• </a:t>
            </a:r>
            <a:r>
              <a:rPr sz="1600" b="1">
                <a:solidFill>
                  <a:srgbClr val="2C3E50"/>
                </a:solidFill>
                <a:latin typeface="Arial"/>
              </a:rPr>
              <a:t>What does this end user need to accomplish with the report?</a:t>
            </a:r>
          </a:p>
          <a:p>
            <a:r>
              <a:rPr sz="1600">
                <a:solidFill>
                  <a:srgbClr val="2C3E50"/>
                </a:solidFill>
                <a:latin typeface="Arial"/>
              </a:rPr>
              <a:t>• </a:t>
            </a:r>
            <a:r>
              <a:rPr sz="1600" b="1">
                <a:solidFill>
                  <a:srgbClr val="2C3E50"/>
                </a:solidFill>
                <a:latin typeface="Arial"/>
              </a:rPr>
              <a:t>What information are they most interested in?</a:t>
            </a:r>
          </a:p>
          <a:p>
            <a:r>
              <a:rPr sz="1600">
                <a:solidFill>
                  <a:srgbClr val="2C3E50"/>
                </a:solidFill>
                <a:latin typeface="Arial"/>
              </a:rPr>
              <a:t>• </a:t>
            </a:r>
            <a:r>
              <a:rPr sz="1600" b="1">
                <a:solidFill>
                  <a:srgbClr val="2C3E50"/>
                </a:solidFill>
                <a:latin typeface="Arial"/>
              </a:rPr>
              <a:t>What do they like/not like about current reports?</a:t>
            </a:r>
          </a:p>
          <a:p>
            <a:r>
              <a:rPr sz="1600">
                <a:solidFill>
                  <a:srgbClr val="2C3E50"/>
                </a:solidFill>
                <a:latin typeface="Arial"/>
              </a:rPr>
              <a:t>• </a:t>
            </a:r>
            <a:r>
              <a:rPr sz="1600" b="1">
                <a:solidFill>
                  <a:srgbClr val="2C3E50"/>
                </a:solidFill>
                <a:latin typeface="Arial"/>
              </a:rPr>
              <a:t>How do they like to receive their information?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Next Steps &amp; Action Planning</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Key actions to take after this working session:</a:t>
            </a:r>
          </a:p>
          <a:p>
            <a:r>
              <a:rPr sz="1600">
                <a:solidFill>
                  <a:srgbClr val="2C3E50"/>
                </a:solidFill>
                <a:latin typeface="Arial"/>
              </a:rPr>
              <a:t>• Finalize adapted phone survey questionnaire</a:t>
            </a:r>
          </a:p>
          <a:p>
            <a:r>
              <a:rPr sz="1600">
                <a:solidFill>
                  <a:srgbClr val="2C3E50"/>
                </a:solidFill>
                <a:latin typeface="Arial"/>
              </a:rPr>
              <a:t>• Complete first quarterly report draft</a:t>
            </a:r>
          </a:p>
          <a:p>
            <a:r>
              <a:rPr sz="1600">
                <a:solidFill>
                  <a:srgbClr val="2C3E50"/>
                </a:solidFill>
                <a:latin typeface="Arial"/>
              </a:rPr>
              <a:t>• Train remaining MoH team on data downloader tools</a:t>
            </a:r>
          </a:p>
          <a:p>
            <a:r>
              <a:rPr sz="1600">
                <a:solidFill>
                  <a:srgbClr val="2C3E50"/>
                </a:solidFill>
                <a:latin typeface="Arial"/>
              </a:rPr>
              <a:t>• Prepare roadmap for participation in Abuja workshop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Quarterly Reporting Cycle</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Establish a sustainable reporting rhythm:</a:t>
            </a:r>
          </a:p>
          <a:p>
            <a:r>
              <a:rPr sz="1600">
                <a:solidFill>
                  <a:srgbClr val="2C3E50"/>
                </a:solidFill>
                <a:latin typeface="Arial"/>
              </a:rPr>
              <a:t>• Define quarterly report timeline and responsibilities</a:t>
            </a:r>
          </a:p>
          <a:p>
            <a:r>
              <a:rPr sz="1600">
                <a:solidFill>
                  <a:srgbClr val="2C3E50"/>
                </a:solidFill>
                <a:latin typeface="Arial"/>
              </a:rPr>
              <a:t>• Set up data extraction schedule</a:t>
            </a:r>
          </a:p>
          <a:p>
            <a:r>
              <a:rPr sz="1600">
                <a:solidFill>
                  <a:srgbClr val="2C3E50"/>
                </a:solidFill>
                <a:latin typeface="Arial"/>
              </a:rPr>
              <a:t>• Establish review and approval process</a:t>
            </a:r>
          </a:p>
          <a:p>
            <a:r>
              <a:rPr sz="1600">
                <a:solidFill>
                  <a:srgbClr val="2C3E50"/>
                </a:solidFill>
                <a:latin typeface="Arial"/>
              </a:rPr>
              <a:t>• Plan dissemination to stakeholders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Continued Platform Usage</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Maintain momentum with the FASTR platform:</a:t>
            </a:r>
          </a:p>
          <a:p>
            <a:r>
              <a:rPr sz="1600">
                <a:solidFill>
                  <a:srgbClr val="2C3E50"/>
                </a:solidFill>
                <a:latin typeface="Arial"/>
              </a:rPr>
              <a:t>• Regular data updates and quality checks</a:t>
            </a:r>
          </a:p>
          <a:p>
            <a:r>
              <a:rPr sz="1600">
                <a:solidFill>
                  <a:srgbClr val="2C3E50"/>
                </a:solidFill>
                <a:latin typeface="Arial"/>
              </a:rPr>
              <a:t>• Expanding analysis to additional indicators</a:t>
            </a:r>
          </a:p>
          <a:p>
            <a:r>
              <a:rPr sz="1600">
                <a:solidFill>
                  <a:srgbClr val="2C3E50"/>
                </a:solidFill>
                <a:latin typeface="Arial"/>
              </a:rPr>
              <a:t>• Building capacity across MoH teams</a:t>
            </a:r>
          </a:p>
          <a:p>
            <a:r>
              <a:rPr sz="1600">
                <a:solidFill>
                  <a:srgbClr val="2C3E50"/>
                </a:solidFill>
                <a:latin typeface="Arial"/>
              </a:rPr>
              <a:t>• Documentation of lessons learned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3 Key Messages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Today we covered:</a:t>
            </a:r>
          </a:p>
          <a:p>
            <a:r>
              <a:rPr sz="1600">
                <a:solidFill>
                  <a:srgbClr val="2C3E50"/>
                </a:solidFill>
                <a:latin typeface="Arial"/>
              </a:rPr>
              <a:t>• Interpretation of FASTR visualizations</a:t>
            </a:r>
          </a:p>
          <a:p>
            <a:r>
              <a:rPr sz="1600">
                <a:solidFill>
                  <a:srgbClr val="2C3E50"/>
                </a:solidFill>
                <a:latin typeface="Arial"/>
              </a:rPr>
              <a:t>• Creation of the Q4 2025 quarterly report</a:t>
            </a:r>
          </a:p>
          <a:p>
            <a:r>
              <a:rPr sz="1600">
                <a:solidFill>
                  <a:srgbClr val="2C3E50"/>
                </a:solidFill>
                <a:latin typeface="Arial"/>
              </a:rPr>
              <a:t>• Presentation and group feedback</a:t>
            </a:r>
          </a:p>
          <a:p>
            <a:r>
              <a:rPr sz="1600">
                <a:solidFill>
                  <a:srgbClr val="2C3E50"/>
                </a:solidFill>
                <a:latin typeface="Arial"/>
              </a:rPr>
              <a:t>• Action planning for continued platform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Looking Ahead to Day 4</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Tomorrow we will focus on:</a:t>
            </a:r>
          </a:p>
          <a:p>
            <a:r>
              <a:rPr sz="1600">
                <a:solidFill>
                  <a:srgbClr val="2C3E50"/>
                </a:solidFill>
                <a:latin typeface="Arial"/>
              </a:rPr>
              <a:t>• Overview of the FASTR HFA phone survey</a:t>
            </a:r>
          </a:p>
          <a:p>
            <a:r>
              <a:rPr sz="1600">
                <a:solidFill>
                  <a:srgbClr val="2C3E50"/>
                </a:solidFill>
                <a:latin typeface="Arial"/>
              </a:rPr>
              <a:t>• Reviewing the questionnaire structure</a:t>
            </a:r>
          </a:p>
          <a:p>
            <a:r>
              <a:rPr sz="1600">
                <a:solidFill>
                  <a:srgbClr val="2C3E50"/>
                </a:solidFill>
                <a:latin typeface="Arial"/>
              </a:rPr>
              <a:t>• Adapting the questionnaire for Zambia</a:t>
            </a:r>
          </a:p>
          <a:p>
            <a:r>
              <a:rPr sz="1600">
                <a:solidFill>
                  <a:srgbClr val="2C3E50"/>
                </a:solidFill>
                <a:latin typeface="Arial"/>
              </a:rPr>
              <a:t>• Planning HFA priorities and data use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4</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Recap</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On Day 3, we covered:</a:t>
            </a:r>
          </a:p>
          <a:p>
            <a:r>
              <a:rPr sz="1600">
                <a:solidFill>
                  <a:srgbClr val="2C3E50"/>
                </a:solidFill>
                <a:latin typeface="Arial"/>
              </a:rPr>
              <a:t>• Interpretation of FASTR visualizations</a:t>
            </a:r>
          </a:p>
          <a:p>
            <a:r>
              <a:rPr sz="1600">
                <a:solidFill>
                  <a:srgbClr val="2C3E50"/>
                </a:solidFill>
                <a:latin typeface="Arial"/>
              </a:rPr>
              <a:t>• Creation of the Q4 2025 quarterly report</a:t>
            </a:r>
          </a:p>
          <a:p>
            <a:r>
              <a:rPr sz="1600">
                <a:solidFill>
                  <a:srgbClr val="2C3E50"/>
                </a:solidFill>
                <a:latin typeface="Arial"/>
              </a:rPr>
              <a:t>• Presentation of findings and group feedback</a:t>
            </a:r>
          </a:p>
          <a:p>
            <a:r>
              <a:rPr sz="1600">
                <a:solidFill>
                  <a:srgbClr val="2C3E50"/>
                </a:solidFill>
                <a:latin typeface="Arial"/>
              </a:rPr>
              <a:t>• Action planning for continued platform use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Day 4 Focus</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Today we design the Health Facility Assessment:</a:t>
            </a:r>
          </a:p>
          <a:p>
            <a:r>
              <a:rPr sz="1600">
                <a:solidFill>
                  <a:srgbClr val="2C3E50"/>
                </a:solidFill>
                <a:latin typeface="Arial"/>
              </a:rPr>
              <a:t>• Overview of the FASTR HFA phone survey</a:t>
            </a:r>
          </a:p>
          <a:p>
            <a:r>
              <a:rPr sz="1600">
                <a:solidFill>
                  <a:srgbClr val="2C3E50"/>
                </a:solidFill>
                <a:latin typeface="Arial"/>
              </a:rPr>
              <a:t>• Review questionnaire structure</a:t>
            </a:r>
          </a:p>
          <a:p>
            <a:r>
              <a:rPr sz="1600">
                <a:solidFill>
                  <a:srgbClr val="2C3E50"/>
                </a:solidFill>
                <a:latin typeface="Arial"/>
              </a:rPr>
              <a:t>• Adapt questionnaire for Zambia context</a:t>
            </a:r>
          </a:p>
          <a:p>
            <a:r>
              <a:rPr sz="1600">
                <a:solidFill>
                  <a:srgbClr val="2C3E50"/>
                </a:solidFill>
                <a:latin typeface="Arial"/>
              </a:rPr>
              <a:t>• Plan HFA priorities and data use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12: Overview of FASTR HFA phone survey</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Health Facility Assessment Phone Survey</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731520"/>
          </a:xfrm>
          <a:prstGeom prst="rect">
            <a:avLst/>
          </a:prstGeom>
          <a:noFill/>
        </p:spPr>
        <p:txBody>
          <a:bodyPr wrap="square">
            <a:spAutoFit/>
          </a:bodyPr>
          <a:lstStyle/>
          <a:p>
            <a:r>
              <a:rPr sz="1600">
                <a:solidFill>
                  <a:srgbClr val="333333"/>
                </a:solidFill>
                <a:latin typeface="Arial"/>
              </a:rPr>
              <a:t>Complementing routine data with facility-level insights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Survey Objectives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a:solidFill>
                  <a:srgbClr val="333333"/>
                </a:solidFill>
                <a:latin typeface="Arial"/>
              </a:rPr>
              <a:t>The FASTR HFA phone survey is designed to:</a:t>
            </a:r>
          </a:p>
          <a:p>
            <a:r>
              <a:rPr sz="1600">
                <a:solidFill>
                  <a:srgbClr val="2C3E50"/>
                </a:solidFill>
                <a:latin typeface="Arial"/>
              </a:rPr>
              <a:t>• </a:t>
            </a:r>
            <a:r>
              <a:rPr sz="1600" b="1">
                <a:solidFill>
                  <a:srgbClr val="2C3E50"/>
                </a:solidFill>
                <a:latin typeface="Arial"/>
              </a:rPr>
              <a:t>Monitor</a:t>
            </a:r>
            <a:r>
              <a:rPr sz="1600">
                <a:solidFill>
                  <a:srgbClr val="2C3E50"/>
                </a:solidFill>
                <a:latin typeface="Arial"/>
              </a:rPr>
              <a:t> service availability, readiness, and functioning of PHC facilities over time (with emphasis on RMNCAH-N services)</a:t>
            </a:r>
          </a:p>
          <a:p>
            <a:r>
              <a:rPr sz="1600">
                <a:solidFill>
                  <a:srgbClr val="2C3E50"/>
                </a:solidFill>
                <a:latin typeface="Arial"/>
              </a:rPr>
              <a:t>• </a:t>
            </a:r>
            <a:r>
              <a:rPr sz="1600" b="1">
                <a:solidFill>
                  <a:srgbClr val="2C3E50"/>
                </a:solidFill>
                <a:latin typeface="Arial"/>
              </a:rPr>
              <a:t>Characterize</a:t>
            </a:r>
            <a:r>
              <a:rPr sz="1600">
                <a:solidFill>
                  <a:srgbClr val="2C3E50"/>
                </a:solidFill>
                <a:latin typeface="Arial"/>
              </a:rPr>
              <a:t> and assess effect of shocks on PHC functioning</a:t>
            </a:r>
          </a:p>
          <a:p>
            <a:r>
              <a:rPr sz="1600">
                <a:solidFill>
                  <a:srgbClr val="2C3E50"/>
                </a:solidFill>
                <a:latin typeface="Arial"/>
              </a:rPr>
              <a:t>• </a:t>
            </a:r>
            <a:r>
              <a:rPr sz="1600" b="1">
                <a:solidFill>
                  <a:srgbClr val="2C3E50"/>
                </a:solidFill>
                <a:latin typeface="Arial"/>
              </a:rPr>
              <a:t>Inform</a:t>
            </a:r>
            <a:r>
              <a:rPr sz="1600">
                <a:solidFill>
                  <a:srgbClr val="2C3E50"/>
                </a:solidFill>
                <a:latin typeface="Arial"/>
              </a:rPr>
              <a:t> and assess implementation of interventions for resilient PHC systems</a:t>
            </a:r>
          </a:p>
          <a:p>
            <a:r>
              <a:rPr sz="1600">
                <a:solidFill>
                  <a:srgbClr val="2C3E50"/>
                </a:solidFill>
                <a:latin typeface="Arial"/>
              </a:rPr>
              <a:t>• </a:t>
            </a:r>
            <a:r>
              <a:rPr sz="1600" b="1">
                <a:solidFill>
                  <a:srgbClr val="2C3E50"/>
                </a:solidFill>
                <a:latin typeface="Arial"/>
              </a:rPr>
              <a:t>Enhance timeliness</a:t>
            </a:r>
            <a:r>
              <a:rPr sz="1600">
                <a:solidFill>
                  <a:srgbClr val="2C3E50"/>
                </a:solidFill>
                <a:latin typeface="Arial"/>
              </a:rPr>
              <a:t> by supplementing large-scale in-person surveys with a rapid-cycle phone approach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Tool Design</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4023360"/>
          </a:xfrm>
          <a:prstGeom prst="rect">
            <a:avLst/>
          </a:prstGeom>
          <a:noFill/>
        </p:spPr>
        <p:txBody>
          <a:bodyPr wrap="square">
            <a:spAutoFit/>
          </a:bodyPr>
          <a:lstStyle/>
          <a:p>
            <a:r>
              <a:rPr sz="1600" b="1">
                <a:solidFill>
                  <a:srgbClr val="333333"/>
                </a:solidFill>
                <a:latin typeface="Arial"/>
              </a:rPr>
              <a:t>Framework alignment:</a:t>
            </a:r>
          </a:p>
          <a:p>
            <a:r>
              <a:rPr sz="1600">
                <a:solidFill>
                  <a:srgbClr val="2C3E50"/>
                </a:solidFill>
                <a:latin typeface="Arial"/>
              </a:rPr>
              <a:t>• Aligned with WHO/UNICEF Primary Health Care Measurement Framework (2022)</a:t>
            </a:r>
          </a:p>
          <a:p>
            <a:r>
              <a:rPr sz="1600" b="1">
                <a:solidFill>
                  <a:srgbClr val="333333"/>
                </a:solidFill>
                <a:latin typeface="Arial"/>
              </a:rPr>
              <a:t>Question sources:</a:t>
            </a:r>
          </a:p>
          <a:p>
            <a:r>
              <a:rPr sz="1600">
                <a:solidFill>
                  <a:srgbClr val="2C3E50"/>
                </a:solidFill>
                <a:latin typeface="Arial"/>
              </a:rPr>
              <a:t>• WHO Harmonized Health Facility Assessment</a:t>
            </a:r>
          </a:p>
          <a:p>
            <a:r>
              <a:rPr sz="1600">
                <a:solidFill>
                  <a:srgbClr val="2C3E50"/>
                </a:solidFill>
                <a:latin typeface="Arial"/>
              </a:rPr>
              <a:t>• WHO Service Availability and Readiness Assessment (SARA)</a:t>
            </a:r>
          </a:p>
          <a:p>
            <a:r>
              <a:rPr sz="1600">
                <a:solidFill>
                  <a:srgbClr val="2C3E50"/>
                </a:solidFill>
                <a:latin typeface="Arial"/>
              </a:rPr>
              <a:t>• World Bank Service Delivery Indicators (SDI)</a:t>
            </a:r>
          </a:p>
          <a:p>
            <a:r>
              <a:rPr sz="1600">
                <a:solidFill>
                  <a:srgbClr val="2C3E50"/>
                </a:solidFill>
                <a:latin typeface="Arial"/>
              </a:rPr>
              <a:t>• DHS Service Provision Assessment (SPA)</a:t>
            </a:r>
          </a:p>
          <a:p>
            <a:r>
              <a:rPr sz="1600">
                <a:solidFill>
                  <a:srgbClr val="2C3E50"/>
                </a:solidFill>
                <a:latin typeface="Arial"/>
              </a:rPr>
              <a:t>• USAID MOMENTUM</a:t>
            </a:r>
          </a:p>
          <a:p>
            <a:r>
              <a:rPr sz="1600" b="1">
                <a:solidFill>
                  <a:srgbClr val="333333"/>
                </a:solidFill>
                <a:latin typeface="Arial"/>
              </a:rPr>
              <a:t>Implementation:</a:t>
            </a:r>
          </a:p>
          <a:p>
            <a:r>
              <a:rPr sz="1600">
                <a:solidFill>
                  <a:srgbClr val="2C3E50"/>
                </a:solidFill>
                <a:latin typeface="Arial"/>
              </a:rPr>
              <a:t>• Phone-based survey to facility managers/Officers in Charge</a:t>
            </a:r>
          </a:p>
          <a:p>
            <a:r>
              <a:rPr sz="1600">
                <a:solidFill>
                  <a:srgbClr val="2C3E50"/>
                </a:solidFill>
                <a:latin typeface="Arial"/>
              </a:rPr>
              <a:t>• Target duration: 30 minutes</a:t>
            </a:r>
          </a:p>
          <a:p>
            <a:r>
              <a:rPr sz="1600">
                <a:solidFill>
                  <a:srgbClr val="2C3E50"/>
                </a:solidFill>
                <a:latin typeface="Arial"/>
              </a:rPr>
              <a:t>• Quarterly contacts</a:t>
            </a:r>
          </a:p>
          <a:p>
            <a:r>
              <a:rPr sz="1600">
                <a:solidFill>
                  <a:srgbClr val="2C3E50"/>
                </a:solidFill>
                <a:latin typeface="Arial"/>
              </a:rPr>
              <a:t>• Modular design for flexibility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Why phone surveys?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3200400"/>
          </a:xfrm>
          <a:prstGeom prst="rect">
            <a:avLst/>
          </a:prstGeom>
          <a:noFill/>
        </p:spPr>
        <p:txBody>
          <a:bodyPr wrap="square">
            <a:spAutoFit/>
          </a:bodyPr>
          <a:lstStyle/>
          <a:p>
            <a:r>
              <a:rPr sz="1600" i="1">
                <a:solidFill>
                  <a:srgbClr val="333333"/>
                </a:solidFill>
                <a:latin typeface="Arial"/>
              </a:rPr>
              <a:t>Routine HMIS data tells us </a:t>
            </a:r>
            <a:r>
              <a:rPr sz="1600">
                <a:solidFill>
                  <a:srgbClr val="333333"/>
                </a:solidFill>
                <a:latin typeface="Arial"/>
              </a:rPr>
              <a:t>what</a:t>
            </a:r>
            <a:r>
              <a:rPr sz="1600" i="1">
                <a:solidFill>
                  <a:srgbClr val="333333"/>
                </a:solidFill>
                <a:latin typeface="Arial"/>
              </a:rPr>
              <a:t> is happening:</a:t>
            </a:r>
          </a:p>
          <a:p>
            <a:r>
              <a:rPr sz="1600">
                <a:solidFill>
                  <a:srgbClr val="2C3E50"/>
                </a:solidFill>
                <a:latin typeface="Arial"/>
              </a:rPr>
              <a:t>• How many services were delivered</a:t>
            </a:r>
          </a:p>
          <a:p>
            <a:r>
              <a:rPr sz="1600">
                <a:solidFill>
                  <a:srgbClr val="2C3E50"/>
                </a:solidFill>
                <a:latin typeface="Arial"/>
              </a:rPr>
              <a:t>• Which facilities reported</a:t>
            </a:r>
          </a:p>
          <a:p>
            <a:r>
              <a:rPr sz="1600">
                <a:solidFill>
                  <a:srgbClr val="2C3E50"/>
                </a:solidFill>
                <a:latin typeface="Arial"/>
              </a:rPr>
              <a:t>• Where there might be data quality issues</a:t>
            </a:r>
          </a:p>
          <a:p>
            <a:r>
              <a:rPr sz="1600" i="1">
                <a:solidFill>
                  <a:srgbClr val="333333"/>
                </a:solidFill>
                <a:latin typeface="Arial"/>
              </a:rPr>
              <a:t>But HMIS data can't tell us </a:t>
            </a:r>
            <a:r>
              <a:rPr sz="1600">
                <a:solidFill>
                  <a:srgbClr val="333333"/>
                </a:solidFill>
                <a:latin typeface="Arial"/>
              </a:rPr>
              <a:t>why</a:t>
            </a:r>
            <a:r>
              <a:rPr sz="1600" i="1">
                <a:solidFill>
                  <a:srgbClr val="333333"/>
                </a:solidFill>
                <a:latin typeface="Arial"/>
              </a:rPr>
              <a:t>:</a:t>
            </a:r>
          </a:p>
          <a:p>
            <a:r>
              <a:rPr sz="1600">
                <a:solidFill>
                  <a:srgbClr val="2C3E50"/>
                </a:solidFill>
                <a:latin typeface="Arial"/>
              </a:rPr>
              <a:t>• Is the facility actually open?</a:t>
            </a:r>
          </a:p>
          <a:p>
            <a:r>
              <a:rPr sz="1600">
                <a:solidFill>
                  <a:srgbClr val="2C3E50"/>
                </a:solidFill>
                <a:latin typeface="Arial"/>
              </a:rPr>
              <a:t>• Are essential supplies available?</a:t>
            </a:r>
          </a:p>
          <a:p>
            <a:r>
              <a:rPr sz="1600">
                <a:solidFill>
                  <a:srgbClr val="2C3E50"/>
                </a:solidFill>
                <a:latin typeface="Arial"/>
              </a:rPr>
              <a:t>• Are trained staff present?</a:t>
            </a:r>
          </a:p>
          <a:p>
            <a:r>
              <a:rPr sz="1600">
                <a:solidFill>
                  <a:srgbClr val="2C3E50"/>
                </a:solidFill>
                <a:latin typeface="Arial"/>
              </a:rPr>
              <a:t>• What challenges are facilities facing?</a:t>
            </a:r>
          </a:p>
          <a:p>
            <a:r>
              <a:rPr sz="1600" b="1">
                <a:solidFill>
                  <a:srgbClr val="333333"/>
                </a:solidFill>
                <a:latin typeface="Arial"/>
              </a:rPr>
              <a:t>Phone surveys fill this gap</a:t>
            </a:r>
            <a:r>
              <a:rPr sz="1600">
                <a:solidFill>
                  <a:srgbClr val="333333"/>
                </a:solidFill>
                <a:latin typeface="Arial"/>
              </a:rPr>
              <a:t> by contacting facilities directly to understand context.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What the survey covers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103120"/>
          </a:xfrm>
          <a:prstGeom prst="rect">
            <a:avLst/>
          </a:prstGeom>
          <a:noFill/>
        </p:spPr>
        <p:txBody>
          <a:bodyPr wrap="square">
            <a:spAutoFit/>
          </a:bodyPr>
          <a:lstStyle/>
          <a:p>
            <a:r>
              <a:rPr sz="1600">
                <a:solidFill>
                  <a:srgbClr val="2C3E50"/>
                </a:solidFill>
                <a:latin typeface="Arial"/>
              </a:rPr>
              <a:t>• </a:t>
            </a:r>
            <a:r>
              <a:rPr sz="1600" b="1">
                <a:solidFill>
                  <a:srgbClr val="2C3E50"/>
                </a:solidFill>
                <a:latin typeface="Arial"/>
              </a:rPr>
              <a:t>Is the facility open and functioning?</a:t>
            </a:r>
          </a:p>
          <a:p>
            <a:r>
              <a:rPr sz="1600">
                <a:solidFill>
                  <a:srgbClr val="2C3E50"/>
                </a:solidFill>
                <a:latin typeface="Arial"/>
              </a:rPr>
              <a:t>• </a:t>
            </a:r>
            <a:r>
              <a:rPr sz="1600" b="1">
                <a:solidFill>
                  <a:srgbClr val="2C3E50"/>
                </a:solidFill>
                <a:latin typeface="Arial"/>
              </a:rPr>
              <a:t>Which services are currently available?</a:t>
            </a:r>
          </a:p>
          <a:p>
            <a:r>
              <a:rPr sz="1600">
                <a:solidFill>
                  <a:srgbClr val="2C3E50"/>
                </a:solidFill>
                <a:latin typeface="Arial"/>
              </a:rPr>
              <a:t>• </a:t>
            </a:r>
            <a:r>
              <a:rPr sz="1600" b="1">
                <a:solidFill>
                  <a:srgbClr val="2C3E50"/>
                </a:solidFill>
                <a:latin typeface="Arial"/>
              </a:rPr>
              <a:t>Are essential medicines in stock?</a:t>
            </a:r>
          </a:p>
          <a:p>
            <a:r>
              <a:rPr sz="1600">
                <a:solidFill>
                  <a:srgbClr val="2C3E50"/>
                </a:solidFill>
                <a:latin typeface="Arial"/>
              </a:rPr>
              <a:t>• </a:t>
            </a:r>
            <a:r>
              <a:rPr sz="1600" b="1">
                <a:solidFill>
                  <a:srgbClr val="2C3E50"/>
                </a:solidFill>
                <a:latin typeface="Arial"/>
              </a:rPr>
              <a:t>What staff are present today?</a:t>
            </a:r>
          </a:p>
          <a:p>
            <a:r>
              <a:rPr sz="1600">
                <a:solidFill>
                  <a:srgbClr val="2C3E50"/>
                </a:solidFill>
                <a:latin typeface="Arial"/>
              </a:rPr>
              <a:t>• </a:t>
            </a:r>
            <a:r>
              <a:rPr sz="1600" b="1">
                <a:solidFill>
                  <a:srgbClr val="2C3E50"/>
                </a:solidFill>
                <a:latin typeface="Arial"/>
              </a:rPr>
              <a:t>What challenges is the facility facing?</a:t>
            </a:r>
          </a:p>
          <a:p>
            <a:r>
              <a:rPr sz="1600">
                <a:solidFill>
                  <a:srgbClr val="333333"/>
                </a:solidFill>
                <a:latin typeface="Arial"/>
              </a:rPr>
              <a:t>Results help explain </a:t>
            </a:r>
            <a:r>
              <a:rPr sz="1600" i="1">
                <a:solidFill>
                  <a:srgbClr val="333333"/>
                </a:solidFill>
                <a:latin typeface="Arial"/>
              </a:rPr>
              <a:t>why</a:t>
            </a:r>
            <a:r>
              <a:rPr sz="1600">
                <a:solidFill>
                  <a:srgbClr val="333333"/>
                </a:solidFill>
                <a:latin typeface="Arial"/>
              </a:rPr>
              <a:t> routine data might show certain patterns.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Questionnaire adaptation guidelines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Why adapt the questionnaire?</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a:solidFill>
                  <a:srgbClr val="333333"/>
                </a:solidFill>
                <a:latin typeface="Arial"/>
              </a:rPr>
              <a:t>The standard FASTR questionnaire is a </a:t>
            </a:r>
            <a:r>
              <a:rPr sz="1600" b="1">
                <a:solidFill>
                  <a:srgbClr val="333333"/>
                </a:solidFill>
                <a:latin typeface="Arial"/>
              </a:rPr>
              <a:t>starting point</a:t>
            </a:r>
            <a:r>
              <a:rPr sz="1600">
                <a:solidFill>
                  <a:srgbClr val="333333"/>
                </a:solidFill>
                <a:latin typeface="Arial"/>
              </a:rPr>
              <a:t>, not a final product.</a:t>
            </a:r>
          </a:p>
          <a:p>
            <a:r>
              <a:rPr sz="1600" b="1">
                <a:solidFill>
                  <a:srgbClr val="333333"/>
                </a:solidFill>
                <a:latin typeface="Arial"/>
              </a:rPr>
              <a:t>Every country needs to:</a:t>
            </a:r>
          </a:p>
          <a:p>
            <a:r>
              <a:rPr sz="1600">
                <a:solidFill>
                  <a:srgbClr val="2C3E50"/>
                </a:solidFill>
                <a:latin typeface="Arial"/>
              </a:rPr>
              <a:t>• Translate into local language(s)</a:t>
            </a:r>
          </a:p>
          <a:p>
            <a:r>
              <a:rPr sz="1600">
                <a:solidFill>
                  <a:srgbClr val="2C3E50"/>
                </a:solidFill>
                <a:latin typeface="Arial"/>
              </a:rPr>
              <a:t>• Use local health system terminology</a:t>
            </a:r>
          </a:p>
          <a:p>
            <a:r>
              <a:rPr sz="1600">
                <a:solidFill>
                  <a:srgbClr val="2C3E50"/>
                </a:solidFill>
                <a:latin typeface="Arial"/>
              </a:rPr>
              <a:t>• Focus on nationally relevant indicators</a:t>
            </a:r>
          </a:p>
          <a:p>
            <a:r>
              <a:rPr sz="1600">
                <a:solidFill>
                  <a:srgbClr val="2C3E50"/>
                </a:solidFill>
                <a:latin typeface="Arial"/>
              </a:rPr>
              <a:t>• Adjust for local facility types</a:t>
            </a:r>
          </a:p>
          <a:p>
            <a:r>
              <a:rPr sz="1600">
                <a:solidFill>
                  <a:srgbClr val="2C3E50"/>
                </a:solidFill>
                <a:latin typeface="Arial"/>
              </a:rPr>
              <a:t>• Match local supply/medicine names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Adaptation principles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3749039"/>
          </a:xfrm>
          <a:prstGeom prst="rect">
            <a:avLst/>
          </a:prstGeom>
          <a:noFill/>
        </p:spPr>
        <p:txBody>
          <a:bodyPr wrap="square">
            <a:spAutoFit/>
          </a:bodyPr>
          <a:lstStyle/>
          <a:p>
            <a:r>
              <a:rPr sz="1600" b="1">
                <a:solidFill>
                  <a:srgbClr val="333333"/>
                </a:solidFill>
                <a:latin typeface="Arial"/>
              </a:rPr>
              <a:t>Keep what matters:</a:t>
            </a:r>
          </a:p>
          <a:p>
            <a:r>
              <a:rPr sz="1600">
                <a:solidFill>
                  <a:srgbClr val="2C3E50"/>
                </a:solidFill>
                <a:latin typeface="Arial"/>
              </a:rPr>
              <a:t>• Core questions on operational status</a:t>
            </a:r>
          </a:p>
          <a:p>
            <a:r>
              <a:rPr sz="1600">
                <a:solidFill>
                  <a:srgbClr val="2C3E50"/>
                </a:solidFill>
                <a:latin typeface="Arial"/>
              </a:rPr>
              <a:t>• Essential supply availability</a:t>
            </a:r>
          </a:p>
          <a:p>
            <a:r>
              <a:rPr sz="1600">
                <a:solidFill>
                  <a:srgbClr val="2C3E50"/>
                </a:solidFill>
                <a:latin typeface="Arial"/>
              </a:rPr>
              <a:t>• Basic service provision</a:t>
            </a:r>
          </a:p>
          <a:p>
            <a:r>
              <a:rPr sz="1600" b="1">
                <a:solidFill>
                  <a:srgbClr val="333333"/>
                </a:solidFill>
                <a:latin typeface="Arial"/>
              </a:rPr>
              <a:t>Adapt to context:</a:t>
            </a:r>
          </a:p>
          <a:p>
            <a:r>
              <a:rPr sz="1600">
                <a:solidFill>
                  <a:srgbClr val="2C3E50"/>
                </a:solidFill>
                <a:latin typeface="Arial"/>
              </a:rPr>
              <a:t>• Local terminology and naming</a:t>
            </a:r>
          </a:p>
          <a:p>
            <a:r>
              <a:rPr sz="1600">
                <a:solidFill>
                  <a:srgbClr val="2C3E50"/>
                </a:solidFill>
                <a:latin typeface="Arial"/>
              </a:rPr>
              <a:t>• Country-specific priority services</a:t>
            </a:r>
          </a:p>
          <a:p>
            <a:r>
              <a:rPr sz="1600">
                <a:solidFill>
                  <a:srgbClr val="2C3E50"/>
                </a:solidFill>
                <a:latin typeface="Arial"/>
              </a:rPr>
              <a:t>• Relevant response categories</a:t>
            </a:r>
          </a:p>
          <a:p>
            <a:r>
              <a:rPr sz="1600" b="1">
                <a:solidFill>
                  <a:srgbClr val="333333"/>
                </a:solidFill>
                <a:latin typeface="Arial"/>
              </a:rPr>
              <a:t>Don't add too much:</a:t>
            </a:r>
          </a:p>
          <a:p>
            <a:r>
              <a:rPr sz="1600">
                <a:solidFill>
                  <a:srgbClr val="2C3E50"/>
                </a:solidFill>
                <a:latin typeface="Arial"/>
              </a:rPr>
              <a:t>• Phone surveys should stay short (15-30 min)</a:t>
            </a:r>
          </a:p>
          <a:p>
            <a:r>
              <a:rPr sz="1600">
                <a:solidFill>
                  <a:srgbClr val="2C3E50"/>
                </a:solidFill>
                <a:latin typeface="Arial"/>
              </a:rPr>
              <a:t>• Focus on actionable information</a:t>
            </a:r>
          </a:p>
          <a:p>
            <a:r>
              <a:rPr sz="1600">
                <a:solidFill>
                  <a:srgbClr val="2C3E50"/>
                </a:solidFill>
                <a:latin typeface="Arial"/>
              </a:rPr>
              <a:t>• Avoid "nice to know" questions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13: Questionnaire adaptation to the Zambian context</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Questionnaire structure and review</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731520"/>
          </a:xfrm>
          <a:prstGeom prst="rect">
            <a:avLst/>
          </a:prstGeom>
          <a:noFill/>
        </p:spPr>
        <p:txBody>
          <a:bodyPr wrap="square">
            <a:spAutoFit/>
          </a:bodyPr>
          <a:lstStyle/>
          <a:p>
            <a:r>
              <a:rPr sz="1600" i="1">
                <a:solidFill>
                  <a:srgbClr val="333333"/>
                </a:solidFill>
                <a:latin typeface="Arial"/>
              </a:rPr>
              <a:t>Note: Content generated with AI - human review needed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Survey blocks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9" cy="4160520"/>
        </p:xfrm>
        <a:graphic>
          <a:graphicData uri="http://schemas.openxmlformats.org/drawingml/2006/table">
            <a:tbl>
              <a:tblPr firstRow="1" bandRow="1">
                <a:tableStyleId>{5C22544A-7EE6-4342-B048-85BDC9FD1C3A}</a:tableStyleId>
              </a:tblPr>
              <a:tblGrid>
                <a:gridCol w="1196502"/>
                <a:gridCol w="10050617"/>
              </a:tblGrid>
              <a:tr h="320040">
                <a:tc>
                  <a:txBody>
                    <a:bodyPr wrap="square"/>
                    <a:lstStyle/>
                    <a:p>
                      <a:pPr>
                        <a:defRPr sz="1400" b="1">
                          <a:solidFill>
                            <a:srgbClr val="21568C"/>
                          </a:solidFill>
                          <a:latin typeface="Arial"/>
                        </a:defRPr>
                      </a:pPr>
                      <a:r>
                        <a:t>Block</a:t>
                      </a:r>
                    </a:p>
                  </a:txBody>
                  <a:tcPr>
                    <a:solidFill>
                      <a:srgbClr val="CAE6E9"/>
                    </a:solidFill>
                  </a:tcPr>
                </a:tc>
                <a:tc>
                  <a:txBody>
                    <a:bodyPr wrap="square"/>
                    <a:lstStyle/>
                    <a:p>
                      <a:pPr>
                        <a:defRPr sz="1400" b="1">
                          <a:solidFill>
                            <a:srgbClr val="21568C"/>
                          </a:solidFill>
                          <a:latin typeface="Arial"/>
                        </a:defRPr>
                      </a:pPr>
                      <a:r>
                        <a:t>Content</a:t>
                      </a:r>
                    </a:p>
                  </a:txBody>
                  <a:tcPr>
                    <a:solidFill>
                      <a:srgbClr val="CAE6E9"/>
                    </a:solidFill>
                  </a:tcPr>
                </a:tc>
              </a:tr>
              <a:tr h="320040">
                <a:tc>
                  <a:txBody>
                    <a:bodyPr wrap="square"/>
                    <a:lstStyle/>
                    <a:p>
                      <a:r>
                        <a:rPr sz="1400" b="1">
                          <a:solidFill>
                            <a:srgbClr val="2C3E50"/>
                          </a:solidFill>
                          <a:latin typeface="Arial"/>
                        </a:rPr>
                        <a:t>A</a:t>
                      </a:r>
                    </a:p>
                  </a:txBody>
                  <a:tcPr/>
                </a:tc>
                <a:tc>
                  <a:txBody>
                    <a:bodyPr wrap="square"/>
                    <a:lstStyle/>
                    <a:p>
                      <a:r>
                        <a:rPr sz="1400">
                          <a:solidFill>
                            <a:srgbClr val="2C3E50"/>
                          </a:solidFill>
                          <a:latin typeface="Arial"/>
                        </a:rPr>
                        <a:t>Health Facility and Respondent Information</a:t>
                      </a:r>
                    </a:p>
                  </a:txBody>
                  <a:tcPr/>
                </a:tc>
              </a:tr>
              <a:tr h="320040">
                <a:tc>
                  <a:txBody>
                    <a:bodyPr wrap="square"/>
                    <a:lstStyle/>
                    <a:p>
                      <a:r>
                        <a:rPr sz="1400" b="1">
                          <a:solidFill>
                            <a:srgbClr val="2C3E50"/>
                          </a:solidFill>
                          <a:latin typeface="Arial"/>
                        </a:rPr>
                        <a:t>B</a:t>
                      </a:r>
                    </a:p>
                  </a:txBody>
                  <a:tcPr/>
                </a:tc>
                <a:tc>
                  <a:txBody>
                    <a:bodyPr wrap="square"/>
                    <a:lstStyle/>
                    <a:p>
                      <a:r>
                        <a:rPr sz="1400">
                          <a:solidFill>
                            <a:srgbClr val="2C3E50"/>
                          </a:solidFill>
                          <a:latin typeface="Arial"/>
                        </a:rPr>
                        <a:t>Shocks</a:t>
                      </a:r>
                    </a:p>
                  </a:txBody>
                  <a:tcPr/>
                </a:tc>
              </a:tr>
              <a:tr h="320040">
                <a:tc>
                  <a:txBody>
                    <a:bodyPr wrap="square"/>
                    <a:lstStyle/>
                    <a:p>
                      <a:r>
                        <a:rPr sz="1400" b="1">
                          <a:solidFill>
                            <a:srgbClr val="2C3E50"/>
                          </a:solidFill>
                          <a:latin typeface="Arial"/>
                        </a:rPr>
                        <a:t>B.1</a:t>
                      </a:r>
                    </a:p>
                  </a:txBody>
                  <a:tcPr/>
                </a:tc>
                <a:tc>
                  <a:txBody>
                    <a:bodyPr wrap="square"/>
                    <a:lstStyle/>
                    <a:p>
                      <a:r>
                        <a:rPr sz="1400">
                          <a:solidFill>
                            <a:srgbClr val="2C3E50"/>
                          </a:solidFill>
                          <a:latin typeface="Arial"/>
                        </a:rPr>
                        <a:t>Resilience to Shocks</a:t>
                      </a:r>
                    </a:p>
                  </a:txBody>
                  <a:tcPr/>
                </a:tc>
              </a:tr>
              <a:tr h="320040">
                <a:tc>
                  <a:txBody>
                    <a:bodyPr wrap="square"/>
                    <a:lstStyle/>
                    <a:p>
                      <a:r>
                        <a:rPr sz="1400" b="1">
                          <a:solidFill>
                            <a:srgbClr val="2C3E50"/>
                          </a:solidFill>
                          <a:latin typeface="Arial"/>
                        </a:rPr>
                        <a:t>B.2</a:t>
                      </a:r>
                    </a:p>
                  </a:txBody>
                  <a:tcPr/>
                </a:tc>
                <a:tc>
                  <a:txBody>
                    <a:bodyPr wrap="square"/>
                    <a:lstStyle/>
                    <a:p>
                      <a:r>
                        <a:rPr sz="1400">
                          <a:solidFill>
                            <a:srgbClr val="2C3E50"/>
                          </a:solidFill>
                          <a:latin typeface="Arial"/>
                        </a:rPr>
                        <a:t>Challenges in Past Three Months</a:t>
                      </a:r>
                    </a:p>
                  </a:txBody>
                  <a:tcPr/>
                </a:tc>
              </a:tr>
              <a:tr h="320040">
                <a:tc>
                  <a:txBody>
                    <a:bodyPr wrap="square"/>
                    <a:lstStyle/>
                    <a:p>
                      <a:r>
                        <a:rPr sz="1400" b="1">
                          <a:solidFill>
                            <a:srgbClr val="2C3E50"/>
                          </a:solidFill>
                          <a:latin typeface="Arial"/>
                        </a:rPr>
                        <a:t>C</a:t>
                      </a:r>
                    </a:p>
                  </a:txBody>
                  <a:tcPr/>
                </a:tc>
                <a:tc>
                  <a:txBody>
                    <a:bodyPr wrap="square"/>
                    <a:lstStyle/>
                    <a:p>
                      <a:r>
                        <a:rPr sz="1400">
                          <a:solidFill>
                            <a:srgbClr val="2C3E50"/>
                          </a:solidFill>
                          <a:latin typeface="Arial"/>
                        </a:rPr>
                        <a:t>Services</a:t>
                      </a:r>
                    </a:p>
                  </a:txBody>
                  <a:tcPr/>
                </a:tc>
              </a:tr>
              <a:tr h="320040">
                <a:tc>
                  <a:txBody>
                    <a:bodyPr wrap="square"/>
                    <a:lstStyle/>
                    <a:p>
                      <a:r>
                        <a:rPr sz="1400" b="1">
                          <a:solidFill>
                            <a:srgbClr val="2C3E50"/>
                          </a:solidFill>
                          <a:latin typeface="Arial"/>
                        </a:rPr>
                        <a:t>D</a:t>
                      </a:r>
                    </a:p>
                  </a:txBody>
                  <a:tcPr/>
                </a:tc>
                <a:tc>
                  <a:txBody>
                    <a:bodyPr wrap="square"/>
                    <a:lstStyle/>
                    <a:p>
                      <a:r>
                        <a:rPr sz="1400">
                          <a:solidFill>
                            <a:srgbClr val="2C3E50"/>
                          </a:solidFill>
                          <a:latin typeface="Arial"/>
                        </a:rPr>
                        <a:t>Infrastructure</a:t>
                      </a:r>
                    </a:p>
                  </a:txBody>
                  <a:tcPr/>
                </a:tc>
              </a:tr>
              <a:tr h="320040">
                <a:tc>
                  <a:txBody>
                    <a:bodyPr wrap="square"/>
                    <a:lstStyle/>
                    <a:p>
                      <a:r>
                        <a:rPr sz="1400" b="1">
                          <a:solidFill>
                            <a:srgbClr val="2C3E50"/>
                          </a:solidFill>
                          <a:latin typeface="Arial"/>
                        </a:rPr>
                        <a:t>E</a:t>
                      </a:r>
                    </a:p>
                  </a:txBody>
                  <a:tcPr/>
                </a:tc>
                <a:tc>
                  <a:txBody>
                    <a:bodyPr wrap="square"/>
                    <a:lstStyle/>
                    <a:p>
                      <a:r>
                        <a:rPr sz="1400">
                          <a:solidFill>
                            <a:srgbClr val="2C3E50"/>
                          </a:solidFill>
                          <a:latin typeface="Arial"/>
                        </a:rPr>
                        <a:t>Financing</a:t>
                      </a:r>
                    </a:p>
                  </a:txBody>
                  <a:tcPr/>
                </a:tc>
              </a:tr>
              <a:tr h="320040">
                <a:tc>
                  <a:txBody>
                    <a:bodyPr wrap="square"/>
                    <a:lstStyle/>
                    <a:p>
                      <a:r>
                        <a:rPr sz="1400" b="1">
                          <a:solidFill>
                            <a:srgbClr val="2C3E50"/>
                          </a:solidFill>
                          <a:latin typeface="Arial"/>
                        </a:rPr>
                        <a:t>F</a:t>
                      </a:r>
                    </a:p>
                  </a:txBody>
                  <a:tcPr/>
                </a:tc>
                <a:tc>
                  <a:txBody>
                    <a:bodyPr wrap="square"/>
                    <a:lstStyle/>
                    <a:p>
                      <a:r>
                        <a:rPr sz="1400">
                          <a:solidFill>
                            <a:srgbClr val="2C3E50"/>
                          </a:solidFill>
                          <a:latin typeface="Arial"/>
                        </a:rPr>
                        <a:t>Workforce and Staffing</a:t>
                      </a:r>
                    </a:p>
                  </a:txBody>
                  <a:tcPr/>
                </a:tc>
              </a:tr>
              <a:tr h="320040">
                <a:tc>
                  <a:txBody>
                    <a:bodyPr wrap="square"/>
                    <a:lstStyle/>
                    <a:p>
                      <a:r>
                        <a:rPr sz="1400" b="1">
                          <a:solidFill>
                            <a:srgbClr val="2C3E50"/>
                          </a:solidFill>
                          <a:latin typeface="Arial"/>
                        </a:rPr>
                        <a:t>G</a:t>
                      </a:r>
                    </a:p>
                  </a:txBody>
                  <a:tcPr/>
                </a:tc>
                <a:tc>
                  <a:txBody>
                    <a:bodyPr wrap="square"/>
                    <a:lstStyle/>
                    <a:p>
                      <a:r>
                        <a:rPr sz="1400">
                          <a:solidFill>
                            <a:srgbClr val="2C3E50"/>
                          </a:solidFill>
                          <a:latin typeface="Arial"/>
                        </a:rPr>
                        <a:t>Supplies</a:t>
                      </a:r>
                    </a:p>
                  </a:txBody>
                  <a:tcPr/>
                </a:tc>
              </a:tr>
              <a:tr h="320040">
                <a:tc>
                  <a:txBody>
                    <a:bodyPr wrap="square"/>
                    <a:lstStyle/>
                    <a:p>
                      <a:r>
                        <a:rPr sz="1400" b="1">
                          <a:solidFill>
                            <a:srgbClr val="2C3E50"/>
                          </a:solidFill>
                          <a:latin typeface="Arial"/>
                        </a:rPr>
                        <a:t>H</a:t>
                      </a:r>
                    </a:p>
                  </a:txBody>
                  <a:tcPr/>
                </a:tc>
                <a:tc>
                  <a:txBody>
                    <a:bodyPr wrap="square"/>
                    <a:lstStyle/>
                    <a:p>
                      <a:r>
                        <a:rPr sz="1400">
                          <a:solidFill>
                            <a:srgbClr val="2C3E50"/>
                          </a:solidFill>
                          <a:latin typeface="Arial"/>
                        </a:rPr>
                        <a:t>Leadership and Coordination</a:t>
                      </a:r>
                    </a:p>
                  </a:txBody>
                  <a:tcPr/>
                </a:tc>
              </a:tr>
              <a:tr h="320040">
                <a:tc>
                  <a:txBody>
                    <a:bodyPr wrap="square"/>
                    <a:lstStyle/>
                    <a:p>
                      <a:r>
                        <a:rPr sz="1400" b="1">
                          <a:solidFill>
                            <a:srgbClr val="2C3E50"/>
                          </a:solidFill>
                          <a:latin typeface="Arial"/>
                        </a:rPr>
                        <a:t>I</a:t>
                      </a:r>
                    </a:p>
                  </a:txBody>
                  <a:tcPr/>
                </a:tc>
                <a:tc>
                  <a:txBody>
                    <a:bodyPr wrap="square"/>
                    <a:lstStyle/>
                    <a:p>
                      <a:r>
                        <a:rPr sz="1400">
                          <a:solidFill>
                            <a:srgbClr val="2C3E50"/>
                          </a:solidFill>
                          <a:latin typeface="Arial"/>
                        </a:rPr>
                        <a:t>Community Engagement</a:t>
                      </a:r>
                    </a:p>
                  </a:txBody>
                  <a:tcPr/>
                </a:tc>
              </a:tr>
              <a:tr h="320040">
                <a:tc>
                  <a:txBody>
                    <a:bodyPr wrap="square"/>
                    <a:lstStyle/>
                    <a:p>
                      <a:r>
                        <a:rPr sz="1400" b="1">
                          <a:solidFill>
                            <a:srgbClr val="2C3E50"/>
                          </a:solidFill>
                          <a:latin typeface="Arial"/>
                        </a:rPr>
                        <a:t>J</a:t>
                      </a:r>
                    </a:p>
                  </a:txBody>
                  <a:tcPr/>
                </a:tc>
                <a:tc>
                  <a:txBody>
                    <a:bodyPr wrap="square"/>
                    <a:lstStyle/>
                    <a:p>
                      <a:r>
                        <a:rPr sz="1400">
                          <a:solidFill>
                            <a:srgbClr val="2C3E50"/>
                          </a:solidFill>
                          <a:latin typeface="Arial"/>
                        </a:rPr>
                        <a:t>Quality Improvement Processes</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Review process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b="1">
                <a:solidFill>
                  <a:srgbClr val="333333"/>
                </a:solidFill>
                <a:latin typeface="Arial"/>
              </a:rPr>
              <a:t>For each block, ask:</a:t>
            </a:r>
          </a:p>
          <a:p>
            <a:r>
              <a:rPr sz="1600">
                <a:solidFill>
                  <a:srgbClr val="2C3E50"/>
                </a:solidFill>
                <a:latin typeface="Arial"/>
              </a:rPr>
              <a:t>• Is this question relevant for our context?</a:t>
            </a:r>
          </a:p>
          <a:p>
            <a:r>
              <a:rPr sz="1600">
                <a:solidFill>
                  <a:srgbClr val="2C3E50"/>
                </a:solidFill>
                <a:latin typeface="Arial"/>
              </a:rPr>
              <a:t>• Is the wording clear in local language?</a:t>
            </a:r>
          </a:p>
          <a:p>
            <a:r>
              <a:rPr sz="1600">
                <a:solidFill>
                  <a:srgbClr val="2C3E50"/>
                </a:solidFill>
                <a:latin typeface="Arial"/>
              </a:rPr>
              <a:t>• Are the response options complete?</a:t>
            </a:r>
          </a:p>
          <a:p>
            <a:r>
              <a:rPr sz="1600">
                <a:solidFill>
                  <a:srgbClr val="2C3E50"/>
                </a:solidFill>
                <a:latin typeface="Arial"/>
              </a:rPr>
              <a:t>• Should we add country-specific items?</a:t>
            </a:r>
          </a:p>
          <a:p>
            <a:r>
              <a:rPr sz="1600">
                <a:solidFill>
                  <a:srgbClr val="2C3E50"/>
                </a:solidFill>
                <a:latin typeface="Arial"/>
              </a:rPr>
              <a:t>• Can we remove anything non-essential?</a:t>
            </a:r>
          </a:p>
          <a:p>
            <a:r>
              <a:rPr sz="1600" b="1">
                <a:solidFill>
                  <a:srgbClr val="333333"/>
                </a:solidFill>
                <a:latin typeface="Arial"/>
              </a:rPr>
              <a:t>Goal:</a:t>
            </a:r>
            <a:r>
              <a:rPr sz="1600">
                <a:solidFill>
                  <a:srgbClr val="333333"/>
                </a:solidFill>
                <a:latin typeface="Arial"/>
              </a:rPr>
              <a:t> A questionnaire that is locally relevant while maintaining comparability with the FASTR standard.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Hands-on questionnaire adaptation</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731520"/>
          </a:xfrm>
          <a:prstGeom prst="rect">
            <a:avLst/>
          </a:prstGeom>
          <a:noFill/>
        </p:spPr>
        <p:txBody>
          <a:bodyPr wrap="square">
            <a:spAutoFit/>
          </a:bodyPr>
          <a:lstStyle/>
          <a:p>
            <a:r>
              <a:rPr sz="1600" i="1">
                <a:solidFill>
                  <a:srgbClr val="333333"/>
                </a:solidFill>
                <a:latin typeface="Arial"/>
              </a:rPr>
              <a:t>Note: Content generated with AI - human review needed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Activity overview</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b="1">
                <a:solidFill>
                  <a:srgbClr val="333333"/>
                </a:solidFill>
                <a:latin typeface="Arial"/>
              </a:rPr>
              <a:t>What we'll do:</a:t>
            </a:r>
          </a:p>
          <a:p>
            <a:r>
              <a:rPr sz="1600">
                <a:solidFill>
                  <a:srgbClr val="333333"/>
                </a:solidFill>
                <a:latin typeface="Arial"/>
              </a:rPr>
              <a:t>Work in groups to adapt the standard FASTR questionnaire to our country context.</a:t>
            </a:r>
          </a:p>
          <a:p>
            <a:r>
              <a:rPr sz="1600" b="1">
                <a:solidFill>
                  <a:srgbClr val="333333"/>
                </a:solidFill>
                <a:latin typeface="Arial"/>
              </a:rPr>
              <a:t>Groups:</a:t>
            </a:r>
          </a:p>
          <a:p>
            <a:r>
              <a:rPr sz="1600">
                <a:solidFill>
                  <a:srgbClr val="2C3E50"/>
                </a:solidFill>
                <a:latin typeface="Arial"/>
              </a:rPr>
              <a:t>• Group 1: Blocks A-B (Facility info, Shocks, Resilience, Challenges)</a:t>
            </a:r>
          </a:p>
          <a:p>
            <a:r>
              <a:rPr sz="1600">
                <a:solidFill>
                  <a:srgbClr val="2C3E50"/>
                </a:solidFill>
                <a:latin typeface="Arial"/>
              </a:rPr>
              <a:t>• Group 2: Blocks C-D (Services, Infrastructure)</a:t>
            </a:r>
          </a:p>
          <a:p>
            <a:r>
              <a:rPr sz="1600">
                <a:solidFill>
                  <a:srgbClr val="2C3E50"/>
                </a:solidFill>
                <a:latin typeface="Arial"/>
              </a:rPr>
              <a:t>• Group 3: Blocks E-F (Financing, Workforce)</a:t>
            </a:r>
          </a:p>
          <a:p>
            <a:r>
              <a:rPr sz="1600">
                <a:solidFill>
                  <a:srgbClr val="2C3E50"/>
                </a:solidFill>
                <a:latin typeface="Arial"/>
              </a:rPr>
              <a:t>• Group 4: Blocks G-J (Supplies, Leadership, Community, QI)</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Adaptation checklist</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a:solidFill>
                  <a:srgbClr val="333333"/>
                </a:solidFill>
                <a:latin typeface="Arial"/>
              </a:rPr>
              <a:t>For each question in your block:</a:t>
            </a:r>
          </a:p>
          <a:p>
            <a:r>
              <a:rPr sz="1600">
                <a:solidFill>
                  <a:srgbClr val="2C3E50"/>
                </a:solidFill>
                <a:latin typeface="Arial"/>
              </a:rPr>
              <a:t>• [ ] Is the question clear in local language?</a:t>
            </a:r>
          </a:p>
          <a:p>
            <a:r>
              <a:rPr sz="1600">
                <a:solidFill>
                  <a:srgbClr val="2C3E50"/>
                </a:solidFill>
                <a:latin typeface="Arial"/>
              </a:rPr>
              <a:t>• [ ] Are response options appropriate?</a:t>
            </a:r>
          </a:p>
          <a:p>
            <a:r>
              <a:rPr sz="1600">
                <a:solidFill>
                  <a:srgbClr val="2C3E50"/>
                </a:solidFill>
                <a:latin typeface="Arial"/>
              </a:rPr>
              <a:t>• [ ] Should we add country-specific items?</a:t>
            </a:r>
          </a:p>
          <a:p>
            <a:r>
              <a:rPr sz="1600">
                <a:solidFill>
                  <a:srgbClr val="2C3E50"/>
                </a:solidFill>
                <a:latin typeface="Arial"/>
              </a:rPr>
              <a:t>• [ ] Can we simplify without losing information?</a:t>
            </a:r>
          </a:p>
          <a:p>
            <a:r>
              <a:rPr sz="1600">
                <a:solidFill>
                  <a:srgbClr val="2C3E50"/>
                </a:solidFill>
                <a:latin typeface="Arial"/>
              </a:rPr>
              <a:t>• [ ] Does skip logic make sense?</a:t>
            </a:r>
          </a:p>
          <a:p>
            <a:r>
              <a:rPr sz="1600" b="1">
                <a:solidFill>
                  <a:srgbClr val="333333"/>
                </a:solidFill>
                <a:latin typeface="Arial"/>
              </a:rPr>
              <a:t>Document your changes</a:t>
            </a:r>
            <a:r>
              <a:rPr sz="1600">
                <a:solidFill>
                  <a:srgbClr val="333333"/>
                </a:solidFill>
                <a:latin typeface="Arial"/>
              </a:rPr>
              <a:t> for group discussion.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Group discussion</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1828800"/>
          </a:xfrm>
          <a:prstGeom prst="rect">
            <a:avLst/>
          </a:prstGeom>
          <a:noFill/>
        </p:spPr>
        <p:txBody>
          <a:bodyPr wrap="square">
            <a:spAutoFit/>
          </a:bodyPr>
          <a:lstStyle/>
          <a:p>
            <a:r>
              <a:rPr sz="1600">
                <a:solidFill>
                  <a:srgbClr val="333333"/>
                </a:solidFill>
                <a:latin typeface="Arial"/>
              </a:rPr>
              <a:t>After working in groups, we'll:</a:t>
            </a:r>
          </a:p>
          <a:p>
            <a:r>
              <a:rPr sz="1600">
                <a:solidFill>
                  <a:srgbClr val="2C3E50"/>
                </a:solidFill>
                <a:latin typeface="Arial"/>
              </a:rPr>
              <a:t>• </a:t>
            </a:r>
            <a:r>
              <a:rPr sz="1600" b="1">
                <a:solidFill>
                  <a:srgbClr val="2C3E50"/>
                </a:solidFill>
                <a:latin typeface="Arial"/>
              </a:rPr>
              <a:t>Present adaptations</a:t>
            </a:r>
            <a:r>
              <a:rPr sz="1600">
                <a:solidFill>
                  <a:srgbClr val="2C3E50"/>
                </a:solidFill>
                <a:latin typeface="Arial"/>
              </a:rPr>
              <a:t> - Each group shares key changes</a:t>
            </a:r>
          </a:p>
          <a:p>
            <a:r>
              <a:rPr sz="1600">
                <a:solidFill>
                  <a:srgbClr val="2C3E50"/>
                </a:solidFill>
                <a:latin typeface="Arial"/>
              </a:rPr>
              <a:t>• </a:t>
            </a:r>
            <a:r>
              <a:rPr sz="1600" b="1">
                <a:solidFill>
                  <a:srgbClr val="2C3E50"/>
                </a:solidFill>
                <a:latin typeface="Arial"/>
              </a:rPr>
              <a:t>Discuss trade-offs</a:t>
            </a:r>
            <a:r>
              <a:rPr sz="1600">
                <a:solidFill>
                  <a:srgbClr val="2C3E50"/>
                </a:solidFill>
                <a:latin typeface="Arial"/>
              </a:rPr>
              <a:t> - What did we add vs. remove?</a:t>
            </a:r>
          </a:p>
          <a:p>
            <a:r>
              <a:rPr sz="1600">
                <a:solidFill>
                  <a:srgbClr val="2C3E50"/>
                </a:solidFill>
                <a:latin typeface="Arial"/>
              </a:rPr>
              <a:t>• </a:t>
            </a:r>
            <a:r>
              <a:rPr sz="1600" b="1">
                <a:solidFill>
                  <a:srgbClr val="2C3E50"/>
                </a:solidFill>
                <a:latin typeface="Arial"/>
              </a:rPr>
              <a:t>Reach consensus</a:t>
            </a:r>
            <a:r>
              <a:rPr sz="1600">
                <a:solidFill>
                  <a:srgbClr val="2C3E50"/>
                </a:solidFill>
                <a:latin typeface="Arial"/>
              </a:rPr>
              <a:t> - Agree on final adaptations</a:t>
            </a:r>
          </a:p>
          <a:p>
            <a:r>
              <a:rPr sz="1600">
                <a:solidFill>
                  <a:srgbClr val="2C3E50"/>
                </a:solidFill>
                <a:latin typeface="Arial"/>
              </a:rPr>
              <a:t>• </a:t>
            </a:r>
            <a:r>
              <a:rPr sz="1600" b="1">
                <a:solidFill>
                  <a:srgbClr val="2C3E50"/>
                </a:solidFill>
                <a:latin typeface="Arial"/>
              </a:rPr>
              <a:t>Plan pre-testing</a:t>
            </a:r>
            <a:r>
              <a:rPr sz="1600">
                <a:solidFill>
                  <a:srgbClr val="2C3E50"/>
                </a:solidFill>
                <a:latin typeface="Arial"/>
              </a:rPr>
              <a:t> - How will we test the adapted questionnaire?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Arial"/>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Arial"/>
              </a:defRPr>
            </a:pPr>
            <a:r>
              <a:t>90 minutes • Back at 14:00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Session 16: Discussion: HFA priorities and data use</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HFA priorities and data use</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731520"/>
          </a:xfrm>
          <a:prstGeom prst="rect">
            <a:avLst/>
          </a:prstGeom>
          <a:noFill/>
        </p:spPr>
        <p:txBody>
          <a:bodyPr wrap="square">
            <a:spAutoFit/>
          </a:bodyPr>
          <a:lstStyle/>
          <a:p>
            <a:r>
              <a:rPr sz="1600" i="1">
                <a:solidFill>
                  <a:srgbClr val="333333"/>
                </a:solidFill>
                <a:latin typeface="Arial"/>
              </a:rPr>
              <a:t>Note: Content generated with AI - human review needed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Using survey results</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3200400"/>
          </a:xfrm>
          <a:prstGeom prst="rect">
            <a:avLst/>
          </a:prstGeom>
          <a:noFill/>
        </p:spPr>
        <p:txBody>
          <a:bodyPr wrap="square">
            <a:spAutoFit/>
          </a:bodyPr>
          <a:lstStyle/>
          <a:p>
            <a:r>
              <a:rPr sz="1600" b="1">
                <a:solidFill>
                  <a:srgbClr val="333333"/>
                </a:solidFill>
                <a:latin typeface="Arial"/>
              </a:rPr>
              <a:t>Phone survey results should inform:</a:t>
            </a:r>
          </a:p>
          <a:p>
            <a:r>
              <a:rPr sz="1600">
                <a:solidFill>
                  <a:srgbClr val="2C3E50"/>
                </a:solidFill>
                <a:latin typeface="Arial"/>
              </a:rPr>
              <a:t>• </a:t>
            </a:r>
            <a:r>
              <a:rPr sz="1600" b="1">
                <a:solidFill>
                  <a:srgbClr val="2C3E50"/>
                </a:solidFill>
                <a:latin typeface="Arial"/>
              </a:rPr>
              <a:t>Routine data interpretation</a:t>
            </a:r>
          </a:p>
          <a:p>
            <a:r>
              <a:rPr sz="1600">
                <a:solidFill>
                  <a:srgbClr val="2C3E50"/>
                </a:solidFill>
                <a:latin typeface="Arial"/>
              </a:rPr>
              <a:t>• Explain patterns in HMIS data</a:t>
            </a:r>
          </a:p>
          <a:p>
            <a:r>
              <a:rPr sz="1600">
                <a:solidFill>
                  <a:srgbClr val="2C3E50"/>
                </a:solidFill>
                <a:latin typeface="Arial"/>
              </a:rPr>
              <a:t>• Validate data quality concerns</a:t>
            </a:r>
          </a:p>
          <a:p>
            <a:r>
              <a:rPr sz="1600">
                <a:solidFill>
                  <a:srgbClr val="2C3E50"/>
                </a:solidFill>
                <a:latin typeface="Arial"/>
              </a:rPr>
              <a:t>• </a:t>
            </a:r>
            <a:r>
              <a:rPr sz="1600" b="1">
                <a:solidFill>
                  <a:srgbClr val="2C3E50"/>
                </a:solidFill>
                <a:latin typeface="Arial"/>
              </a:rPr>
              <a:t>Targeted support</a:t>
            </a:r>
          </a:p>
          <a:p>
            <a:r>
              <a:rPr sz="1600">
                <a:solidFill>
                  <a:srgbClr val="2C3E50"/>
                </a:solidFill>
                <a:latin typeface="Arial"/>
              </a:rPr>
              <a:t>• Identify facilities needing intervention</a:t>
            </a:r>
          </a:p>
          <a:p>
            <a:r>
              <a:rPr sz="1600">
                <a:solidFill>
                  <a:srgbClr val="2C3E50"/>
                </a:solidFill>
                <a:latin typeface="Arial"/>
              </a:rPr>
              <a:t>• Prioritize supervision visits</a:t>
            </a:r>
          </a:p>
          <a:p>
            <a:r>
              <a:rPr sz="1600">
                <a:solidFill>
                  <a:srgbClr val="2C3E50"/>
                </a:solidFill>
                <a:latin typeface="Arial"/>
              </a:rPr>
              <a:t>• </a:t>
            </a:r>
            <a:r>
              <a:rPr sz="1600" b="1">
                <a:solidFill>
                  <a:srgbClr val="2C3E50"/>
                </a:solidFill>
                <a:latin typeface="Arial"/>
              </a:rPr>
              <a:t>Supply chain management</a:t>
            </a:r>
          </a:p>
          <a:p>
            <a:r>
              <a:rPr sz="1600">
                <a:solidFill>
                  <a:srgbClr val="2C3E50"/>
                </a:solidFill>
                <a:latin typeface="Arial"/>
              </a:rPr>
              <a:t>• Track stockout patterns</a:t>
            </a:r>
          </a:p>
          <a:p>
            <a:r>
              <a:rPr sz="1600">
                <a:solidFill>
                  <a:srgbClr val="2C3E50"/>
                </a:solidFill>
                <a:latin typeface="Arial"/>
              </a:rPr>
              <a:t>• Inform distribution planning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Linking survey to routine data</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097280"/>
          <a:ext cx="11247118" cy="1280160"/>
        </p:xfrm>
        <a:graphic>
          <a:graphicData uri="http://schemas.openxmlformats.org/drawingml/2006/table">
            <a:tbl>
              <a:tblPr firstRow="1" bandRow="1">
                <a:tableStyleId>{5C22544A-7EE6-4342-B048-85BDC9FD1C3A}</a:tableStyleId>
              </a:tblPr>
              <a:tblGrid>
                <a:gridCol w="4005823"/>
                <a:gridCol w="2927332"/>
                <a:gridCol w="4313963"/>
              </a:tblGrid>
              <a:tr h="320040">
                <a:tc>
                  <a:txBody>
                    <a:bodyPr wrap="square"/>
                    <a:lstStyle/>
                    <a:p>
                      <a:pPr>
                        <a:defRPr sz="1400" b="1">
                          <a:solidFill>
                            <a:srgbClr val="21568C"/>
                          </a:solidFill>
                          <a:latin typeface="Arial"/>
                        </a:defRPr>
                      </a:pPr>
                      <a:r>
                        <a:t>HMIS pattern</a:t>
                      </a:r>
                    </a:p>
                  </a:txBody>
                  <a:tcPr>
                    <a:solidFill>
                      <a:srgbClr val="CAE6E9"/>
                    </a:solidFill>
                  </a:tcPr>
                </a:tc>
                <a:tc>
                  <a:txBody>
                    <a:bodyPr wrap="square"/>
                    <a:lstStyle/>
                    <a:p>
                      <a:pPr>
                        <a:defRPr sz="1400" b="1">
                          <a:solidFill>
                            <a:srgbClr val="21568C"/>
                          </a:solidFill>
                          <a:latin typeface="Arial"/>
                        </a:defRPr>
                      </a:pPr>
                      <a:r>
                        <a:t>Survey question</a:t>
                      </a:r>
                    </a:p>
                  </a:txBody>
                  <a:tcPr>
                    <a:solidFill>
                      <a:srgbClr val="CAE6E9"/>
                    </a:solidFill>
                  </a:tcPr>
                </a:tc>
                <a:tc>
                  <a:txBody>
                    <a:bodyPr wrap="square"/>
                    <a:lstStyle/>
                    <a:p>
                      <a:pPr>
                        <a:defRPr sz="1400" b="1">
                          <a:solidFill>
                            <a:srgbClr val="21568C"/>
                          </a:solidFill>
                          <a:latin typeface="Arial"/>
                        </a:defRPr>
                      </a:pPr>
                      <a:r>
                        <a:t>Insight</a:t>
                      </a:r>
                    </a:p>
                  </a:txBody>
                  <a:tcPr>
                    <a:solidFill>
                      <a:srgbClr val="CAE6E9"/>
                    </a:solidFill>
                  </a:tcPr>
                </a:tc>
              </a:tr>
              <a:tr h="320040">
                <a:tc>
                  <a:txBody>
                    <a:bodyPr wrap="square"/>
                    <a:lstStyle/>
                    <a:p>
                      <a:r>
                        <a:rPr sz="1400">
                          <a:solidFill>
                            <a:srgbClr val="2C3E50"/>
                          </a:solidFill>
                          <a:latin typeface="Arial"/>
                        </a:rPr>
                        <a:t>Facility stopped reporting</a:t>
                      </a:r>
                    </a:p>
                  </a:txBody>
                  <a:tcPr/>
                </a:tc>
                <a:tc>
                  <a:txBody>
                    <a:bodyPr wrap="square"/>
                    <a:lstStyle/>
                    <a:p>
                      <a:r>
                        <a:rPr sz="1400">
                          <a:solidFill>
                            <a:srgbClr val="2C3E50"/>
                          </a:solidFill>
                          <a:latin typeface="Arial"/>
                        </a:rPr>
                        <a:t>Is facility open?</a:t>
                      </a:r>
                    </a:p>
                  </a:txBody>
                  <a:tcPr/>
                </a:tc>
                <a:tc>
                  <a:txBody>
                    <a:bodyPr wrap="square"/>
                    <a:lstStyle/>
                    <a:p>
                      <a:r>
                        <a:rPr sz="1400">
                          <a:solidFill>
                            <a:srgbClr val="2C3E50"/>
                          </a:solidFill>
                          <a:latin typeface="Arial"/>
                        </a:rPr>
                        <a:t>Closed vs. reporting failure</a:t>
                      </a:r>
                    </a:p>
                  </a:txBody>
                  <a:tcPr/>
                </a:tc>
              </a:tr>
              <a:tr h="320040">
                <a:tc>
                  <a:txBody>
                    <a:bodyPr wrap="square"/>
                    <a:lstStyle/>
                    <a:p>
                      <a:r>
                        <a:rPr sz="1400">
                          <a:solidFill>
                            <a:srgbClr val="2C3E50"/>
                          </a:solidFill>
                          <a:latin typeface="Arial"/>
                        </a:rPr>
                        <a:t>Sudden drop in services</a:t>
                      </a:r>
                    </a:p>
                  </a:txBody>
                  <a:tcPr/>
                </a:tc>
                <a:tc>
                  <a:txBody>
                    <a:bodyPr wrap="square"/>
                    <a:lstStyle/>
                    <a:p>
                      <a:r>
                        <a:rPr sz="1400">
                          <a:solidFill>
                            <a:srgbClr val="2C3E50"/>
                          </a:solidFill>
                          <a:latin typeface="Arial"/>
                        </a:rPr>
                        <a:t>Stock availability?</a:t>
                      </a:r>
                    </a:p>
                  </a:txBody>
                  <a:tcPr/>
                </a:tc>
                <a:tc>
                  <a:txBody>
                    <a:bodyPr wrap="square"/>
                    <a:lstStyle/>
                    <a:p>
                      <a:r>
                        <a:rPr sz="1400">
                          <a:solidFill>
                            <a:srgbClr val="2C3E50"/>
                          </a:solidFill>
                          <a:latin typeface="Arial"/>
                        </a:rPr>
                        <a:t>Stockout impact</a:t>
                      </a:r>
                    </a:p>
                  </a:txBody>
                  <a:tcPr/>
                </a:tc>
              </a:tr>
              <a:tr h="320040">
                <a:tc>
                  <a:txBody>
                    <a:bodyPr wrap="square"/>
                    <a:lstStyle/>
                    <a:p>
                      <a:r>
                        <a:rPr sz="1400">
                          <a:solidFill>
                            <a:srgbClr val="2C3E50"/>
                          </a:solidFill>
                          <a:latin typeface="Arial"/>
                        </a:rPr>
                        <a:t>Low immunization numbers</a:t>
                      </a:r>
                    </a:p>
                  </a:txBody>
                  <a:tcPr/>
                </a:tc>
                <a:tc>
                  <a:txBody>
                    <a:bodyPr wrap="square"/>
                    <a:lstStyle/>
                    <a:p>
                      <a:r>
                        <a:rPr sz="1400">
                          <a:solidFill>
                            <a:srgbClr val="2C3E50"/>
                          </a:solidFill>
                          <a:latin typeface="Arial"/>
                        </a:rPr>
                        <a:t>Vaccine in stock?</a:t>
                      </a:r>
                    </a:p>
                  </a:txBody>
                  <a:tcPr/>
                </a:tc>
                <a:tc>
                  <a:txBody>
                    <a:bodyPr wrap="square"/>
                    <a:lstStyle/>
                    <a:p>
                      <a:r>
                        <a:rPr sz="1400">
                          <a:solidFill>
                            <a:srgbClr val="2C3E50"/>
                          </a:solidFill>
                          <a:latin typeface="Arial"/>
                        </a:rPr>
                        <a:t>Supply vs. demand issue</a:t>
                      </a:r>
                    </a:p>
                  </a:txBody>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411480"/>
          </a:xfrm>
          <a:prstGeom prst="rect">
            <a:avLst/>
          </a:prstGeom>
          <a:noFill/>
        </p:spPr>
        <p:txBody>
          <a:bodyPr wrap="square"/>
          <a:lstStyle/>
          <a:p>
            <a:pPr algn="l">
              <a:defRPr sz="2600" b="1" i="0">
                <a:solidFill>
                  <a:srgbClr val="21568C"/>
                </a:solidFill>
                <a:latin typeface="Arial"/>
              </a:defRPr>
            </a:pPr>
            <a:r>
              <a:t>Next steps for HFA implementation</a:t>
            </a:r>
          </a:p>
        </p:txBody>
      </p:sp>
      <p:sp>
        <p:nvSpPr>
          <p:cNvPr id="3" name="Rectangle 2"/>
          <p:cNvSpPr/>
          <p:nvPr/>
        </p:nvSpPr>
        <p:spPr>
          <a:xfrm>
            <a:off x="457200" y="841248"/>
            <a:ext cx="3657600" cy="36576"/>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11277295" cy="2377440"/>
          </a:xfrm>
          <a:prstGeom prst="rect">
            <a:avLst/>
          </a:prstGeom>
          <a:noFill/>
        </p:spPr>
        <p:txBody>
          <a:bodyPr wrap="square">
            <a:spAutoFit/>
          </a:bodyPr>
          <a:lstStyle/>
          <a:p>
            <a:r>
              <a:rPr sz="1600">
                <a:solidFill>
                  <a:srgbClr val="2C3E50"/>
                </a:solidFill>
                <a:latin typeface="Arial"/>
              </a:rPr>
              <a:t>• </a:t>
            </a:r>
            <a:r>
              <a:rPr sz="1600" b="1">
                <a:solidFill>
                  <a:srgbClr val="2C3E50"/>
                </a:solidFill>
                <a:latin typeface="Arial"/>
              </a:rPr>
              <a:t>Finalize adapted questionnaire</a:t>
            </a:r>
          </a:p>
          <a:p>
            <a:r>
              <a:rPr sz="1600">
                <a:solidFill>
                  <a:srgbClr val="2C3E50"/>
                </a:solidFill>
                <a:latin typeface="Arial"/>
              </a:rPr>
              <a:t>• </a:t>
            </a:r>
            <a:r>
              <a:rPr sz="1600" b="1">
                <a:solidFill>
                  <a:srgbClr val="2C3E50"/>
                </a:solidFill>
                <a:latin typeface="Arial"/>
              </a:rPr>
              <a:t>Train enumerators</a:t>
            </a:r>
          </a:p>
          <a:p>
            <a:r>
              <a:rPr sz="1600">
                <a:solidFill>
                  <a:srgbClr val="2C3E50"/>
                </a:solidFill>
                <a:latin typeface="Arial"/>
              </a:rPr>
              <a:t>• </a:t>
            </a:r>
            <a:r>
              <a:rPr sz="1600" b="1">
                <a:solidFill>
                  <a:srgbClr val="2C3E50"/>
                </a:solidFill>
                <a:latin typeface="Arial"/>
              </a:rPr>
              <a:t>Establish call schedule</a:t>
            </a:r>
          </a:p>
          <a:p>
            <a:r>
              <a:rPr sz="1600">
                <a:solidFill>
                  <a:srgbClr val="2C3E50"/>
                </a:solidFill>
                <a:latin typeface="Arial"/>
              </a:rPr>
              <a:t>• </a:t>
            </a:r>
            <a:r>
              <a:rPr sz="1600" b="1">
                <a:solidFill>
                  <a:srgbClr val="2C3E50"/>
                </a:solidFill>
                <a:latin typeface="Arial"/>
              </a:rPr>
              <a:t>Conduct pilot round</a:t>
            </a:r>
          </a:p>
          <a:p>
            <a:r>
              <a:rPr sz="1600">
                <a:solidFill>
                  <a:srgbClr val="2C3E50"/>
                </a:solidFill>
                <a:latin typeface="Arial"/>
              </a:rPr>
              <a:t>• </a:t>
            </a:r>
            <a:r>
              <a:rPr sz="1600" b="1">
                <a:solidFill>
                  <a:srgbClr val="2C3E50"/>
                </a:solidFill>
                <a:latin typeface="Arial"/>
              </a:rPr>
              <a:t>Analyze and link to HMIS</a:t>
            </a:r>
          </a:p>
          <a:p>
            <a:r>
              <a:rPr sz="1600">
                <a:solidFill>
                  <a:srgbClr val="2C3E50"/>
                </a:solidFill>
                <a:latin typeface="Arial"/>
              </a:rPr>
              <a:t>• </a:t>
            </a:r>
            <a:r>
              <a:rPr sz="1600" b="1">
                <a:solidFill>
                  <a:srgbClr val="2C3E50"/>
                </a:solidFill>
                <a:latin typeface="Arial"/>
              </a:rPr>
              <a:t>Report and use findings</a:t>
            </a:r>
          </a:p>
          <a:p>
            <a:r>
              <a:rPr sz="1600" b="1">
                <a:solidFill>
                  <a:srgbClr val="333333"/>
                </a:solidFill>
                <a:latin typeface="Arial"/>
              </a:rPr>
              <a:t>Key question:</a:t>
            </a:r>
            <a:r>
              <a:rPr sz="1600">
                <a:solidFill>
                  <a:srgbClr val="333333"/>
                </a:solidFill>
                <a:latin typeface="Arial"/>
              </a:rPr>
              <a:t> How will HFA results feed into your routine monitoring and decision-making processes?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Next Steps &amp; Action Planning</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Key actions to take after this working session:</a:t>
            </a:r>
          </a:p>
          <a:p>
            <a:r>
              <a:rPr sz="1600">
                <a:solidFill>
                  <a:srgbClr val="2C3E50"/>
                </a:solidFill>
                <a:latin typeface="Arial"/>
              </a:rPr>
              <a:t>• Finalize adapted phone survey questionnaire</a:t>
            </a:r>
          </a:p>
          <a:p>
            <a:r>
              <a:rPr sz="1600">
                <a:solidFill>
                  <a:srgbClr val="2C3E50"/>
                </a:solidFill>
                <a:latin typeface="Arial"/>
              </a:rPr>
              <a:t>• Complete first quarterly report draft</a:t>
            </a:r>
          </a:p>
          <a:p>
            <a:r>
              <a:rPr sz="1600">
                <a:solidFill>
                  <a:srgbClr val="2C3E50"/>
                </a:solidFill>
                <a:latin typeface="Arial"/>
              </a:rPr>
              <a:t>• Train remaining MoH team on data downloader tools</a:t>
            </a:r>
          </a:p>
          <a:p>
            <a:r>
              <a:rPr sz="1600">
                <a:solidFill>
                  <a:srgbClr val="2C3E50"/>
                </a:solidFill>
                <a:latin typeface="Arial"/>
              </a:rPr>
              <a:t>• Prepare roadmap for participation in Abuja workshop</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Quarterly Reporting Cycle</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Establish a sustainable reporting rhythm:</a:t>
            </a:r>
          </a:p>
          <a:p>
            <a:r>
              <a:rPr sz="1600">
                <a:solidFill>
                  <a:srgbClr val="2C3E50"/>
                </a:solidFill>
                <a:latin typeface="Arial"/>
              </a:rPr>
              <a:t>• Define quarterly report timeline and responsibilities</a:t>
            </a:r>
          </a:p>
          <a:p>
            <a:r>
              <a:rPr sz="1600">
                <a:solidFill>
                  <a:srgbClr val="2C3E50"/>
                </a:solidFill>
                <a:latin typeface="Arial"/>
              </a:rPr>
              <a:t>• Set up data extraction schedule</a:t>
            </a:r>
          </a:p>
          <a:p>
            <a:r>
              <a:rPr sz="1600">
                <a:solidFill>
                  <a:srgbClr val="2C3E50"/>
                </a:solidFill>
                <a:latin typeface="Arial"/>
              </a:rPr>
              <a:t>• Establish review and approval process</a:t>
            </a:r>
          </a:p>
          <a:p>
            <a:r>
              <a:rPr sz="1600">
                <a:solidFill>
                  <a:srgbClr val="2C3E50"/>
                </a:solidFill>
                <a:latin typeface="Arial"/>
              </a:rPr>
              <a:t>• Plan dissemination to stakeholders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Continued Platform Usage</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Maintain momentum with the FASTR platform:</a:t>
            </a:r>
          </a:p>
          <a:p>
            <a:r>
              <a:rPr sz="1600">
                <a:solidFill>
                  <a:srgbClr val="2C3E50"/>
                </a:solidFill>
                <a:latin typeface="Arial"/>
              </a:rPr>
              <a:t>• Regular data updates and quality checks</a:t>
            </a:r>
          </a:p>
          <a:p>
            <a:r>
              <a:rPr sz="1600">
                <a:solidFill>
                  <a:srgbClr val="2C3E50"/>
                </a:solidFill>
                <a:latin typeface="Arial"/>
              </a:rPr>
              <a:t>• Expanding analysis to additional indicators</a:t>
            </a:r>
          </a:p>
          <a:p>
            <a:r>
              <a:rPr sz="1600">
                <a:solidFill>
                  <a:srgbClr val="2C3E50"/>
                </a:solidFill>
                <a:latin typeface="Arial"/>
              </a:rPr>
              <a:t>• Building capacity across MoH teams</a:t>
            </a:r>
          </a:p>
          <a:p>
            <a:r>
              <a:rPr sz="1600">
                <a:solidFill>
                  <a:srgbClr val="2C3E50"/>
                </a:solidFill>
                <a:latin typeface="Arial"/>
              </a:rPr>
              <a:t>• Documentation of lessons learned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Workshop Closing</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2103120"/>
          </a:xfrm>
          <a:prstGeom prst="rect">
            <a:avLst/>
          </a:prstGeom>
          <a:noFill/>
        </p:spPr>
        <p:txBody>
          <a:bodyPr wrap="square">
            <a:spAutoFit/>
          </a:bodyPr>
          <a:lstStyle/>
          <a:p>
            <a:r>
              <a:rPr sz="1600">
                <a:solidFill>
                  <a:srgbClr val="333333"/>
                </a:solidFill>
                <a:latin typeface="Arial"/>
              </a:rPr>
              <a:t>Thank you for your participation!</a:t>
            </a:r>
          </a:p>
          <a:p>
            <a:r>
              <a:rPr sz="1600">
                <a:solidFill>
                  <a:srgbClr val="333333"/>
                </a:solidFill>
                <a:latin typeface="Arial"/>
              </a:rPr>
              <a:t>Over the past four days, we have:</a:t>
            </a:r>
          </a:p>
          <a:p>
            <a:r>
              <a:rPr sz="1600">
                <a:solidFill>
                  <a:srgbClr val="2C3E50"/>
                </a:solidFill>
                <a:latin typeface="Arial"/>
              </a:rPr>
              <a:t>• Configured the FASTR platform for Zambia</a:t>
            </a:r>
          </a:p>
          <a:p>
            <a:r>
              <a:rPr sz="1600">
                <a:solidFill>
                  <a:srgbClr val="2C3E50"/>
                </a:solidFill>
                <a:latin typeface="Arial"/>
              </a:rPr>
              <a:t>• Created the first quarterly RMNCAH-N report</a:t>
            </a:r>
          </a:p>
          <a:p>
            <a:r>
              <a:rPr sz="1600">
                <a:solidFill>
                  <a:srgbClr val="2C3E50"/>
                </a:solidFill>
                <a:latin typeface="Arial"/>
              </a:rPr>
              <a:t>• Adapted the HFA questionnaire for local context</a:t>
            </a:r>
          </a:p>
          <a:p>
            <a:r>
              <a:rPr sz="1600">
                <a:solidFill>
                  <a:srgbClr val="2C3E50"/>
                </a:solidFill>
                <a:latin typeface="Arial"/>
              </a:rPr>
              <a:t>• Built capacity for ongoing analysis and reporting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Stay Connected</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828800"/>
          </a:xfrm>
          <a:prstGeom prst="rect">
            <a:avLst/>
          </a:prstGeom>
          <a:noFill/>
        </p:spPr>
        <p:txBody>
          <a:bodyPr wrap="square">
            <a:spAutoFit/>
          </a:bodyPr>
          <a:lstStyle/>
          <a:p>
            <a:r>
              <a:rPr sz="1600">
                <a:solidFill>
                  <a:srgbClr val="333333"/>
                </a:solidFill>
                <a:latin typeface="Arial"/>
              </a:rPr>
              <a:t>Continue the journey:</a:t>
            </a:r>
          </a:p>
          <a:p>
            <a:r>
              <a:rPr sz="1600">
                <a:solidFill>
                  <a:srgbClr val="2C3E50"/>
                </a:solidFill>
                <a:latin typeface="Arial"/>
              </a:rPr>
              <a:t>• Platform access and support</a:t>
            </a:r>
          </a:p>
          <a:p>
            <a:r>
              <a:rPr sz="1600">
                <a:solidFill>
                  <a:srgbClr val="2C3E50"/>
                </a:solidFill>
                <a:latin typeface="Arial"/>
              </a:rPr>
              <a:t>• Quarterly report submissions</a:t>
            </a:r>
          </a:p>
          <a:p>
            <a:r>
              <a:rPr sz="1600">
                <a:solidFill>
                  <a:srgbClr val="2C3E50"/>
                </a:solidFill>
                <a:latin typeface="Arial"/>
              </a:rPr>
              <a:t>• Multi-country workshop in Abuja</a:t>
            </a:r>
          </a:p>
          <a:p>
            <a:r>
              <a:rPr sz="1600">
                <a:solidFill>
                  <a:srgbClr val="2C3E50"/>
                </a:solidFill>
                <a:latin typeface="Arial"/>
              </a:rPr>
              <a:t>• Ongoing technical assistance from GFF team</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Thank You</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280160"/>
            <a:ext cx="11277295" cy="1280160"/>
          </a:xfrm>
          <a:prstGeom prst="rect">
            <a:avLst/>
          </a:prstGeom>
          <a:noFill/>
        </p:spPr>
        <p:txBody>
          <a:bodyPr wrap="square">
            <a:spAutoFit/>
          </a:bodyPr>
          <a:lstStyle/>
          <a:p>
            <a:r>
              <a:rPr sz="1600">
                <a:solidFill>
                  <a:srgbClr val="333333"/>
                </a:solidFill>
                <a:latin typeface="Arial"/>
              </a:rPr>
              <a:t>FASTR Working Session - Zambia</a:t>
            </a:r>
          </a:p>
          <a:p>
            <a:r>
              <a:rPr sz="1600">
                <a:solidFill>
                  <a:srgbClr val="333333"/>
                </a:solidFill>
                <a:latin typeface="Arial"/>
              </a:rPr>
              <a:t>January 27-30, 2026</a:t>
            </a:r>
          </a:p>
          <a:p>
            <a:r>
              <a:rPr sz="1600">
                <a:solidFill>
                  <a:srgbClr val="333333"/>
                </a:solidFill>
                <a:latin typeface="Arial"/>
              </a:rPr>
              <a:t>Lusaka</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1277295" cy="502920"/>
          </a:xfrm>
          <a:prstGeom prst="rect">
            <a:avLst/>
          </a:prstGeom>
          <a:noFill/>
        </p:spPr>
        <p:txBody>
          <a:bodyPr wrap="square"/>
          <a:lstStyle/>
          <a:p>
            <a:pPr algn="l">
              <a:defRPr sz="3200" b="1" i="0">
                <a:solidFill>
                  <a:srgbClr val="09544F"/>
                </a:solidFill>
                <a:latin typeface="Arial"/>
              </a:defRPr>
            </a:pPr>
            <a:r>
              <a:t>Contact Information</a:t>
            </a:r>
          </a:p>
        </p:txBody>
      </p:sp>
      <p:sp>
        <p:nvSpPr>
          <p:cNvPr id="3" name="Rectangle 2"/>
          <p:cNvSpPr/>
          <p:nvPr/>
        </p:nvSpPr>
        <p:spPr>
          <a:xfrm>
            <a:off x="457200" y="914400"/>
            <a:ext cx="4572000"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mail.png"/>
          <p:cNvPicPr>
            <a:picLocks noChangeAspect="1"/>
          </p:cNvPicPr>
          <p:nvPr/>
        </p:nvPicPr>
        <p:blipFill>
          <a:blip r:embed="rId2"/>
          <a:stretch>
            <a:fillRect/>
          </a:stretch>
        </p:blipFill>
        <p:spPr>
          <a:xfrm>
            <a:off x="1371600" y="1371600"/>
            <a:ext cx="9144000" cy="914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