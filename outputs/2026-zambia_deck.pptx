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In-Country Working Session: FASTR Implementation &amp; RMNCAH-N Service Monitoring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January 27-30, 2026** | **Lusaka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*GFF FASTR Team*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Workshop Agenda - Day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Agenda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Facilitator/Presenter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08:30-09:00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Participant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MoH team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09:00-09:10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Welcome and Opening 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MoH team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09:10-09:20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Icebreakers/Introductions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MoH team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09:20-09:35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Overview of Agenda &amp; Workshop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09:35-10:30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1: Overview of FASTR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10:30-11:30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2: Data Extraction - Rationale and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11:30-12:30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3: Introduction to the FASTR Analytics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12:30-14:00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Lunch 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14:00-14:30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Getting Participants into the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14:30-16:30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4: Configuring the Analysis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16:30-17:00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Day 1 Key Messages and Wrap-up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Workshop Agenda - Day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Agenda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Facilitator/Presenter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09:00-09:15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Overview of Day 2 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09:15-10:15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5: Overview of FASTR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10:15-11:15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6: Creating a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11:15-12:30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7: Creating Visualizations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12:30-14:00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Lunch 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14:30-16:30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8: Creating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16:30-17:00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Day 2 Key Messages and Wrap-up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Workshop Agenda - Day 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Agenda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Facilitator/Presenter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09:00-09:15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Overview of Day 3 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09:15-10:15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8: Interpretation of Visualizations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10:15-12:30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9: Creating a Q4 2025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12:30-14:00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Lunch 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14:00-15:00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9 (continued): Q4 Report with Country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14:30-15:30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10: Present Reports &amp; Group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15:30-16:30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11: Action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16:30-17:00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Day 3 Key Messages and Wrap-up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Workshop Agenda - Day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Agenda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Facilitator/Presenter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09:00-09:15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Overview of Day 4 Agenda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09:15-10:15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12: Overview of FASTR HFA Phone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10:15-12:30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13: FASTR HFA Questionnaire Review &amp; Adaptation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12:30-14:00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Lunch 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14:00-15:00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14: Continue Questionnaire Adaptation (Groups)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14:30-15:30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15: Discuss Adapted Questionnaire in Plenary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15:30-16:30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Session 16: HFA Priorities and Data Use in Zambia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GFF FASTR team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16:30-17:00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Workshop Closing &amp; Next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Workshop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Prepare MoH for participation in the multi-country workshop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Strengthen capacity for disruption analysis and data extraction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Configure the FASTR analytics platform for Zambia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Produce the first quarterly report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Adapt the phone survey questionnaire to the Zambian context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Use data downloader tools for DHIS2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Scope of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Disruption Analysis Activities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Data extraction and configuration of analytics platform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Produce first quarterly report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Review results and contextualize findings (with relevant programme teams)</a:t>
            </a:r>
          </a:p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Phone Survey Activities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Adaptation of questionnaire (with programme input)</a:t>
            </a:r>
          </a:p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Capacity Building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Training on data downloader for all with DHIS2 access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Hybrid format: face-to-face and online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Expected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Adapted phone survey questionnaire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First quarterly report draft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Trained MoH team on data downloader tools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Roadmap for participation in Abuja workshop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Introduction to FASTR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What FASTR does with routine HMIS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Why rapid-cycle analytics?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Timely insights aligned with country decision cycles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Continuous learning rather than one-off assessments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Direct feedback loops between data, analysis, and 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Focus of the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Core indicators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FASTR prioritizes a core set of RMNCAH-N indicators that: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Represent key service delivery contacts across the continuum of care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Have relatively high reporting completeness and volumes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Serve as proxies for broader service delivery performance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Outpatient consultations are included as a proxy for overall health service use. The indicator set can be expanded to reflect country-specific priorities.</a:t>
            </a:r>
          </a:p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Core data quality metrics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Analysis is anchored in a standardized set of data quality metrics, including: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Reporting completeness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Extreme value (outlier) detection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Consistency across related indicators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These metrics are summarized into an overall data quality score to support interpretation and comparison across areas.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FASTR approach to routine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 FASTR approach follows a three-step workflow:</a:t>
            </a:r>
          </a:p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1. Assess data quality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Identify issues related to completeness, outliers, and internal consistency at national and subnational levels.</a:t>
            </a:r>
          </a:p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2. Adjust for data quality limitations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Apply transparent, indicator-specific corrections to improve the reliability of trend analysis.</a:t>
            </a:r>
          </a:p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3. Analyze service delivery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Quantify changes in priority service volumes and compare coverage trends against country targets.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This enables continuous, subnational monitoring while data quality is systematically improved.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Why extract data from DHIS2?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Data quality adjustment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 FASTR approach focuses on data quality adjustments to expand the analyses countries can do with DHIS2 data and to generate more robust estimates.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 FASTR methodology includes specific approaches to: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Identify and adjust for outliers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Adjust for incomplete reporting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Apply consistent data quality metrics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These adjustments require processing that cannot be done within DHIS2's native analytics.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Tools for data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*Content to be developed*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This section will cover: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DHIS2 data export options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API-based extraction methods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Data transformation requirements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Quality checks on extracted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Introduction to the FASTR Analytics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 FASTR analytics platform is a web-based tool for data quality assessment, adjustment, and analysis of routine health data.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Key features: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Upload and analyze data from DHIS2 and other sources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Built-in statistical methods for data quality adjustment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User-friendly interface for running analyses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Flexible visualization and export options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In this session, we will provide a conceptual walkthrough of the platform and its capabilities.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Live Demo: Platform Access &amp;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In this demo, we will: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Navigate to the FASTR platform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Explore user roles: Administrator, Editor, Viewer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Review user management and permissions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Understand the workflow for uploading data and making analytical decisions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*Facilitator will demonstrate in the live platform*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 i="0">
                <a:solidFill>
                  <a:srgbClr val="09544F"/>
                </a:solidFill>
                <a:latin typeface="Arial"/>
              </a:defRPr>
            </a:pPr>
            <a:r>
              <a:t>🍽️ Lunch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0" i="0">
                <a:solidFill>
                  <a:srgbClr val="21568C"/>
                </a:solidFill>
                <a:latin typeface="Arial"/>
              </a:defRPr>
            </a:pPr>
            <a:r>
              <a:t>90 minutes • Back at 14:00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Activity: Setting Up Admin Areas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In this hands-on session, we will configure: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Admin areas (regions, districts)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Facility structure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Indicator definitions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*Participants will work directly in the platform*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Activity: Importing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In this hands-on session, we will: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Review data format requirements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Walk through the import process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Handle validation and error checking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*Participants will import their country's data*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Activity: Installing and Running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In this hands-on session, we will: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Review available analysis modules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Install required modules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Run initial analyses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*Participants will configure and run modules on their data*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Day 1 Key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Today we covered: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Overview of the FASTR approach and methodology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Data extraction methods and tools for DHIS2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Introduction to the FASTR Analytics Platform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Initial platform configuration for Zambia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Looking Ahead to Day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Tomorrow we will focus on: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Creating your first project in the platform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Building visualizations from your data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Generating reports for decision-making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Day 2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Yesterday we accomplished: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Understood the FASTR approach and methodology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Learned data extraction from DHIS2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Set up and configured the analytics platform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Familiarized ourselves with platform navigation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Day 2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Today we will build on that foundation: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Explore FASTR methods for data quality and analysis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Create and configure projects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Build visualizations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Generate reports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Data quality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Understanding the reliability of routine health 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Why talk about data quality?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**The challenge:** Health facilities report data every month, but sometimes: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Numbers seem too high or too low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Facilities forget to report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Related numbers don't match up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**The impact:** Bad data leads to bad decisions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We might think services are improving when they're not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We might miss real problems in certain areas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Resources might go to the wrong places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**FASTR's solution:** Check data quality systematically, fix what we can, and be transparent about limitations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Three simple questions about data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1. Are facilities reporting regularly?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Completeness: Did we get reports from facilities this month?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2. Are the numbers reasonable?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Outliers: Are there any suspiciously high values?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3. Do related numbers make sense together?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Consistency: Do related services show expected patterns?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These three questions help us understand if we can trust the data for decision-making.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Approach to data quality adjustment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 Data Quality Adjustment module (Module 2 in the FASTR analytics platform) systematically corrects two common problems in routine health facility data: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Outliers - extreme values caused by reporting errors or data entry mistakes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Missing data - from incomplete reporting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Rather than simply deleting problematic data, this module replaces questionable values with statistically sound estimates based on each facility's own historical patterns.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Four adjustment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Original data, no adjustments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Outliers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Only outlier corrections applied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Completeness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Only missing data filled 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Both types of corrections applied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Service utilization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 Service Utilization module (Module 3 in the FASTR analytics platform) analyzes health service delivery patterns to detect and quantify disruptions in service volumes over time.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Key capabilities: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Identifies when health services deviate significantly from expected patterns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Measures magnitude of disruptions at national, provincial, and district levels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Distinguishes normal fluctuations from genuine disruptions requiring investigation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Two-stage analysis process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Part 1: Control chart analysis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Model expected patterns using historical trends and seasonality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Detect significant deviations from expected volumes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Flag disrupted periods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Part 2: Disruption quantification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Use panel regression to estimate service volume changes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Calculate shortfalls and surpluses in absolute numbers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Activity: Creating a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In this hands-on session, we will: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Set up a new project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Configure project settings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Select indicators and time periods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Apply best practices for project organization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*Participants will create their first project*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Activity: Creating Visualizations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In this hands-on session, we will: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Explore available chart types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Create and customize visualizations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Export charts for use in reports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*Participants will build visualizations from their analysis*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 i="0">
                <a:solidFill>
                  <a:srgbClr val="09544F"/>
                </a:solidFill>
                <a:latin typeface="Arial"/>
              </a:defRPr>
            </a:pPr>
            <a:r>
              <a:t>🍽️ Lunch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0" i="0">
                <a:solidFill>
                  <a:srgbClr val="21568C"/>
                </a:solidFill>
                <a:latin typeface="Arial"/>
              </a:defRPr>
            </a:pPr>
            <a:r>
              <a:t>90 minutes • Back at 14:00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Activity: Creating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In this hands-on session, we will: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Use report templates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Generate automated reports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Customize report content and layout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*Participants will create their first quarterly report draft*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Day 2 Key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Today we covered: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Overview of FASTR methods for data quality and analysis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Creating and configuring projects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Building visualizations from data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Generating reports in the platform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Looking Ahead to Day 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Tomorrow we will focus on: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Interpreting visualizations for decision-making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Creating the Q4 2025 quarterly report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Presenting findings effectively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Action planning for continued use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Day 3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Yesterday we accomplished: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Learned FASTR methods for data quality assessment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Created projects and configured analyses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Built visualizations from Zambia data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Generated initial reports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Day 3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Today we move from analysis to action: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Deep dive into interpretation of results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Create the Q4 2025 quarterly report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Present findings to the group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Develop action plans for continued 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Analytical thinking &amp;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*Content to be developed*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This section will cover: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Frameworks for interpreting FASTR outputs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Connecting data patterns to programmatic meaning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Common interpretation pitfalls to avoid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Building analytical thinking skills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Generating quarterly reporting products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*Content to be developed*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This section will cover: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Quarterly reporting workflow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Using the FASTR platform for automated reports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Quality assurance for reports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Distribution and feedback mechanisms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 i="0">
                <a:solidFill>
                  <a:srgbClr val="09544F"/>
                </a:solidFill>
                <a:latin typeface="Arial"/>
              </a:defRPr>
            </a:pPr>
            <a:r>
              <a:t>🍽️ Lunch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0" i="0">
                <a:solidFill>
                  <a:srgbClr val="21568C"/>
                </a:solidFill>
                <a:latin typeface="Arial"/>
              </a:defRPr>
            </a:pPr>
            <a:r>
              <a:t>90 minutes • Back at 14:00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End user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End user mapping helps ensure that our outputs will meet the real needs of our end users.</a:t>
            </a:r>
          </a:p>
          <a:p>
            <a:pPr>
              <a:defRPr sz="2400" b="1" i="0">
                <a:solidFill>
                  <a:srgbClr val="7A1F6E"/>
                </a:solidFill>
                <a:latin typeface="Arial"/>
              </a:defRPr>
            </a:pPr>
            <a:r>
              <a:t>Key questions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Who is my end user?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What does this end user need to accomplish with the report?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What information are they most interested in?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What do they like/not like about current reports?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How do they like to receive their information?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Next Steps &amp; Action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Key actions to take after this working session: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Finalize adapted phone survey questionnaire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Complete first quarterly report draft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Train remaining MoH team on data downloader tools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Prepare roadmap for participation in Abuja workshop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Quarterly Reporting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Establish a sustainable reporting rhythm: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Define quarterly report timeline and responsibilities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Set up data extraction schedule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Establish review and approval process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Plan dissemination to stakeholders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Continued Platform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Maintain momentum with the FASTR platform: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Regular data updates and quality checks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Expanding analysis to additional indicators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Building capacity across MoH teams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Documentation of lessons learned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Day 3 Key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Today we covered: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Interpretation of FASTR visualizations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Creation of the Q4 2025 quarterly report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Presentation and group feedback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Action planning for continued platform use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Looking Ahead to Day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Tomorrow we will focus on: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Overview of the FASTR HFA phone survey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Reviewing the questionnaire structure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Adapting the questionnaire for Zambia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Planning HFA priorities and data use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Day 4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Yesterday we accomplished: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Created the Q4 2025 quarterly report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Presented findings and received feedback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Developed action plans for continued work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Established quarterly reporting rhythm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Day 4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Today we design the Health Facility Assessment: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Overview of the FASTR HFA phone survey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Review questionnaire structure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Adapt questionnaire for Zambia context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Plan HFA priorities and data use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Health Facility Assessment Phone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Complementing routine data with facility-level insights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Why phone surveys?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Routine HMIS data tells us *what* is happening: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How many services were delivered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Which facilities reported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Where there might be data quality issues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But HMIS data can't tell us *why*: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Is the facility actually open?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Are essential supplies available?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Are trained staff present?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What challenges are facilities facing?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**Phone surveys fill this gap** by contacting facilities directly to understand context.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FASTR HFA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**Rapid:** 15-30 minute phone calls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**Low-cost:** No travel required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**Regular:** Can be repeated quarterly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**Linked:** Connected to routine HMIS data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 goal is timely, actionable information that helps interpret routine data patterns.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What the survey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Is the facility open and functioning?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Which services are currently available?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Are essential medicines in stock?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What staff are present today?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What challenges is the facility facing?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Results help explain *why* routine data might show certain patterns.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Questionnaire adaptation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Why adapt the questionnaire?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The standard FASTR questionnaire is a **starting point**, not a final product.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Every country needs to: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Translate into local language(s)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Use local health system terminology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Focus on nationally relevant indicators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Adjust for local facility types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Match local supply/medicine names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Adaptation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Keep what matters: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Core questions on operational status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Essential supply availability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Basic service provision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Adapt to context: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Local terminology and naming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Country-specific priority services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Relevant response categories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Don't add too much: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Phone surveys should stay short (15-30 min)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Focus on actionable information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Avoid "nice to know" questions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Questionnaire structure and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Standard questionnaire sections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A. Facility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Verify facility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 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B. Operational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Current functioning, closures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3 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C. Service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Services currently offered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5 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D. Staffing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Staff presence by cadre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3 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E. Essential supplies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Stock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5 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F.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Water, 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 min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G. 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Current issues (open-ended)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5 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Review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For each section, ask: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Is this question relevant for our context?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Is the wording clear in local language?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Are the response options complete?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Should we add country-specific items?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Can we remove anything non-essential?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**Goal:** A questionnaire that is locally relevant while maintaining comparability with the FASTR standard.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Hands-on questionnaire adaptation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Activity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What we'll do: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Work in groups to adapt the standard FASTR questionnaire to our country context.</a:t>
            </a:r>
          </a:p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Groups: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Group 1: Sections A-B (Facility ID, Operational status)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Group 2: Section C (Service availability)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Group 3: Section D-E (Staffing, Essential supplies)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Group 4: Sections F-G (Infrastructure, Challenges)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Adaptation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For each question in your section: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[ ] Is the question clear in local language?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[ ] Are response options appropriate?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[ ] Should we add country-specific items?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[ ] Can we simplify without losing information?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[ ] Does skip logic make sense?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**Document your changes** for group discussion.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Group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After working in groups, we'll: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Present adaptations - Each group shares key changes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Discuss trade-offs - What did we add vs. remove?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Reach consensus - Agree on final adaptations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Plan pre-testing - How will we test the adapted questionnaire?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 i="0">
                <a:solidFill>
                  <a:srgbClr val="09544F"/>
                </a:solidFill>
                <a:latin typeface="Arial"/>
              </a:defRPr>
            </a:pPr>
            <a:r>
              <a:t>🍽️ Lunch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0" i="0">
                <a:solidFill>
                  <a:srgbClr val="21568C"/>
                </a:solidFill>
                <a:latin typeface="Arial"/>
              </a:defRPr>
            </a:pPr>
            <a:r>
              <a:t>90 minutes • Back at 14:00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HFA priorities and data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Using survey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Phone survey results should inform: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Routine data interpretation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Explain patterns in HMIS data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Validate data quality concerns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Targeted support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Identify facilities needing intervention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Prioritize supervision visits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Supply chain management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Track stockout patterns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Inform distribution planning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Linking survey to routine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6858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HMIS pattern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Survey question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1568C"/>
                          </a:solidFill>
                          <a:latin typeface="Arial"/>
                        </a:defRPr>
                      </a:pPr>
                      <a:r>
                        <a:t>Insight</a:t>
                      </a:r>
                    </a:p>
                  </a:txBody>
                  <a:tcPr>
                    <a:solidFill>
                      <a:srgbClr val="CAE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Facility stopped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Is facility open?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Closed vs. reporting failure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Sudden drop in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Stock availability?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Stockout impact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Low immunization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Vaccine in stock?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Supply vs. demand issue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Next steps for HFA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Finalize adapted questionnaire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Train enumerators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Establish call schedule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Conduct pilot round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Analyze and link to HMIS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Report and use findings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**Key question:** How will HFA results feed into your routine monitoring and decision-making processes?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Next Steps &amp; Action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Key actions to take after this working session: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Finalize adapted phone survey questionnaire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Complete first quarterly report draft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Train remaining MoH team on data downloader tools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Prepare roadmap for participation in Abuja workshop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Quarterly Reporting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Establish a sustainable reporting rhythm: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Define quarterly report timeline and responsibilities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Set up data extraction schedule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Establish review and approval process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Plan dissemination to stakeholders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Continued Platform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Maintain momentum with the FASTR platform: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Regular data updates and quality checks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Expanding analysis to additional indicators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Building capacity across MoH teams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Documentation of lessons learned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Workshop Closing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Thank you for your participation!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Over the past four days, we have: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Configured the FASTR platform for Zambia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Created the first quarterly RMNCAH-N report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Adapted the HFA questionnaire for local context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Built capacity for ongoing analysis and reporting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Stay Connected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Continue the journey: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Platform access and support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Quarterly report submissions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Multi-country workshop in Abuja</a:t>
            </a:r>
          </a:p>
          <a:p>
            <a:pPr>
              <a:defRPr sz="1800" b="0" i="0">
                <a:solidFill>
                  <a:srgbClr val="2C3E50"/>
                </a:solidFill>
                <a:latin typeface="Arial"/>
              </a:defRPr>
            </a:pPr>
            <a:r>
              <a:t>• Ongoing technical assistance from GFF team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FASTR Working Session - Zambia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January 27-30, 2026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Lusaka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21568C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4572000" cy="36576"/>
          </a:xfrm>
          <a:prstGeom prst="rect">
            <a:avLst/>
          </a:prstGeom>
          <a:solidFill>
            <a:srgbClr val="1A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09544F"/>
                </a:solidFill>
                <a:latin typeface="Arial"/>
              </a:defRPr>
            </a:pPr>
            <a:r>
              <a:t>Contact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D0C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333333"/>
                </a:solidFill>
                <a:latin typeface="Arial"/>
              </a:defRPr>
            </a:pPr>
            <a:r>
              <a:t>FASTR Team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📧 Email:</a:t>
            </a:r>
          </a:p>
          <a:p>
            <a:pPr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t>🌐 Website: https://fastr.org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